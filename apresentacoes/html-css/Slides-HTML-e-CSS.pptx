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(40 s). Apresente o grupo e diga: HTML organiza o conteúdo; CSS define a apresentação. Vamos construir uma página de cursos para conectar cada conceito a algo visível. Acrescente nomes e turma à capa se desejar.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(45 s). O navegador cria uma representação da estrutura HTML, aplica as regras CSS e calcula o layout antes de desenhar. HTML e CSS não substituem a lógica de negócio ou o banco de dados. JavaScript é uma terceira camada comum, mas não será necessário no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Aplicação (45 s). Dê exemplos próximos: site da escola, sistema de matrícula e loja online. Mesmo com React, Angular ou outros frameworks, a interface continua baseada em elementos HTML e regras CSS. Semântica e responsividade afetam acesso, manutenção e usabilidade.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Estrutura (1 min). Explique abertura, conteúdo e fechamento de uma tag usando h1. Atributos são informações na tag de abertura: lang é um exemplo. meta é um elemento vazio, sem tag de fechamento. title aparece na aba; h1 aparece no documento. UTF-8 permite os caracteres usados em português. A viewport é importante para o layout em dispositivos móveis.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Tags (1 min). header representa conteúdo introdutório; nav identifica a navegação; main é o conteúdo principal; section agrupa um tema; article é um conteúdo independente; footer é um rodapé. Mostre que section normalmente recebe um título. Exemplo de link: &lt;a href="#inscricao"&gt;Inscrição&lt;/a&gt;. Exemplo de imagem informativa: &lt;img src="turma.jpg" alt="Turma apresentando projetos"&gt;. Imagens decorativas recebem alt vazio. div e span continuam úteis quando não existe semântica específica.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Formulários (1 min 15 s). Explique que id conecta o campo ao label e deve ser único; name é a chave no envio. method=post envia dados no corpo da requisição, mas não cifra os dados: HTTPS é que protege o transporte. /cadastro é uma rota ilustrativa que exige backend; ela não existe no arquivo demonstrativo. required faz a validação no navegador, mas pode ser contornada, por isso o servidor precisa validar novamente. textarea coleta texto longo; checkbox e radio são outros tipos úteis. Placeholder não substitui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 (1 min). .card é o seletor. O bloco entre chaves contém declarações no formato propriedade: valor. background define o fundo; color define a cor do texto; padding cria espaço interno; border-radius arredonda os cantos. CSS pode ser externo, interno em style ou inline. Para manutenção, normalmente preferimos um arquivo externo. O exemplo demonstrativo usa style no mesmo HTML para ser aberto sem outros arquivos.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Seletores (1 min). Um elemento pode ter várias classes separadas por espaços. Um mesmo nome de classe pode ser reutilizado em vários elementos. id é único e também serve de destino para links internos. Para regras reutilizáveis, classes são uma boa escolha. O seletor de atributo e a pseudoclasse mostrados são seletores válidos mesmo sem chaves completas nesta tabela. :focus-visible permite destacar o elemento focado quando isso é apropriado, como na navegação por teclado.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Cascata (1 min). Todas as regras do exemplo são de mesma origem, mesma importância e sem camadas. Nesse contexto, o ID tem especificidade maior que a classe; a classe tem mais que o tipo. A ordem no arquivo resolve um empate de especificidade. A cascata completa considera origem, importância e camadas antes da especificidade. Não diga que ID sempre vence qualquer CSS. Evite resolver conflitos adicionando IDs ou !important sem compreender a causa.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model (1 min). Do centro para fora: conteúdo, padding, border e margin. Padding é espaço dentro da borda; margin é espaço fora dela. Com border-box, width já inclui padding e borda, mas nunca a margem. Exemplo: width de 300px com padding de 20px em cada lado e borda de 1px mantém largura total de 300px com border-box; com content-box teria 342px, sem contar margem.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Flexbox (1 min). O padrão é flex-direction: row, então o eixo principal é horizontal neste exemplo. Se mudar para column, os eixos mudam. O justify-content: space-between coloca espaço entre os itens; align-items: center centraliza no eixo transversal. gap pode definir espaçamento entre itens; flex-wrap: wrap permite quebra em novas linhas quando necessário. O exemplo demonstrativo utiliza essas duas propriedades adicionais.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(1 min). grid-template-columns define as colunas; repeat evita repetir a mesma declaração; 1fr representa uma fração do espaço livre. gap define os intervalos entre as células. Flex e Grid podem coexistir: o projeto usa Flex na navegação e Grid nos cards. O HTML do exemplo envolve os três articles em uma div class=cursos. Para conteúdo potencialmente longo, o exemplo completo usa minmax(0, 1fr) para permitir que as trilhas encolham.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Responsividade (1 min). Quando a viewport tem até 700px, a regra muda os cards de três para uma coluna. O breakpoint deve responder ao conteúdo, não só ao nome de um aparelho. A meta viewport do slide 4 evita a viewport virtual típica de páginas antigas no celular. Use max-width, porcentagens, rem e clamp quando fizer sentido; para imagens, max-width:100% e height:auto são um ponto de partida. Media query não detecta o tipo do dispositivo: testa uma condição da viewport. O exemplo foi verificado em 1280px, 700px e 390px.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Acessibilidade (1 min). Mostre a navegação com Tab no exemplo funcionando. Clicar no label deve focar o campo correto. Não remova outline sem fornecer um substituto acessível. Para texto comum, a WCAG nível AA normalmente exige contraste de pelo menos 4,5:1; texto grande tem limiar de 3:1. Esses valores não substituem uma avaliação completa de acessibilidade. A cor sozinha não deve transmitir estado, e placeholder não deve ser o único rótulo.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Projeto (45 s). As duas imagens são capturas do exemplo real. Abra exemplo.html em um navegador. O arquivo está completo e não precisa de instalação, servidor, internet ou JavaScript. Explique que os slides anteriores usam trechos reduzidos para ensinar e que o arquivo contém os ajustes completos de layout, foco e espaçamento. Não há backend ou cadastro efetivo.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(2 min). Abra exemplo.html. 1: no modo responsivo das ferramentas do navegador, compare 1280px e 390px; observe a quebra dos cards e a ausência de rolagem horizontal. 2: use Tab para navegar e mostre o foco. Clique em um label. 3: no formulário, clique em Testar formulário sem preencher; o navegador deve apontar um obrigatório. Preencha Ana Exemplo e um texto sem arroba; o campo de e-mail deve rejeitar. Finalize com ana@example.com. Os dados fictícios aparecem na URL via GET e a página recarrega; não existe servidor salvando dados. Validação de interface não substitui validação no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(1 min). Peça respostas ao desafio antes de encerrar. Resposta: class é reutilizável e um elemento pode ter várias classes; id identifica um elemento de forma única no documento. Margin fica fora da borda e padding fica dentro. Pergunta extra: qual regra faz os cards mudarem para uma coluna? Resposta: a media query que altera grid-template-columns para 1fr. Conhecimento central: HTML e CSS trabalham juntos, com estrutura e estilo separados conceitualmente.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(20 s). Estes são links de referência para aprofundamento, não uma lista de sites usados pelo projeto. Consulte a documentação de cada propriedade quando houver dúvida. Convide a turma a modificar o HTML e CSS do exemplo e observar o resultado no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eloper.mozilla.org/pt-BR/docs/Web/HTML" TargetMode="External"/><Relationship Id="rId3" Type="http://schemas.openxmlformats.org/officeDocument/2006/relationships/hyperlink" Target="https://developer.mozilla.org/pt-BR/docs/Web/CSS" TargetMode="External"/><Relationship Id="rId4" Type="http://schemas.openxmlformats.org/officeDocument/2006/relationships/hyperlink" Target="https://developer.mozilla.org/en-US/docs/Learn_web_development/Extensions/Forms" TargetMode="External"/><Relationship Id="rId5" Type="http://schemas.openxmlformats.org/officeDocument/2006/relationships/hyperlink" Target="https://developer.mozilla.org/en-US/docs/Learn_web_development/Core/CSS_layout/Responsive_Design" TargetMode="External"/><Relationship Id="rId6" Type="http://schemas.openxmlformats.org/officeDocument/2006/relationships/hyperlink" Target="https://www.w3.org/WAI/tutorials/" TargetMode="External"/><Relationship Id="rId7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TEMA 03  /  DESENVOLVIMENTO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6858000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5200" b="1">
                <a:solidFill>
                  <a:srgbClr val="F4F7FF"/>
                </a:solidFill>
                <a:latin typeface="DejaVu Sans"/>
              </a:defRPr>
            </a:pPr>
            <a:r>
              <a:t>HTML &amp;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39112"/>
            <a:ext cx="6766560" cy="1371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600" b="1">
                <a:solidFill>
                  <a:srgbClr val="6CE5D2"/>
                </a:solidFill>
                <a:latin typeface="DejaVu Sans"/>
              </a:defRPr>
            </a:pPr>
            <a:r>
              <a:t>Da estrutura</a:t>
            </a:r>
          </a:p>
          <a:p>
            <a:pPr>
              <a:spcAft>
                <a:spcPts val="700"/>
              </a:spcAft>
              <a:defRPr sz="3600" b="1">
                <a:solidFill>
                  <a:srgbClr val="6CE5D2"/>
                </a:solidFill>
                <a:latin typeface="DejaVu Sans"/>
              </a:defRPr>
            </a:pPr>
            <a:r>
              <a:t>à experiência.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621792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B8C4DD"/>
                </a:solidFill>
                <a:latin typeface="DejaVu Sans"/>
              </a:defRPr>
            </a:pPr>
            <a:r>
              <a:t>Como transformar conteúdo em páginas</a:t>
            </a:r>
          </a:p>
          <a:p>
            <a:pPr>
              <a:spcAft>
                <a:spcPts val="700"/>
              </a:spcAft>
              <a:defRPr sz="2000" b="0">
                <a:solidFill>
                  <a:srgbClr val="B8C4DD"/>
                </a:solidFill>
                <a:latin typeface="DejaVu Sans"/>
              </a:defRPr>
            </a:pPr>
            <a:r>
              <a:t>claras, bonitas e responsivas.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84064"/>
            <a:ext cx="1600200" cy="329184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34355"/>
            <a:ext cx="141732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 Mono"/>
              </a:defRPr>
            </a:pPr>
            <a:r>
              <a:t>ESTRUTURA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5728" y="5084064"/>
            <a:ext cx="1234440" cy="329184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5134355"/>
            <a:ext cx="105156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 Mono"/>
              </a:defRPr>
            </a:pPr>
            <a:r>
              <a:t>ESTILO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85615" y="5084064"/>
            <a:ext cx="2286000" cy="329184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5344" y="5134355"/>
            <a:ext cx="210312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 Mono"/>
              </a:defRPr>
            </a:pPr>
            <a:r>
              <a:t>RESPONSIVIDADE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188720"/>
            <a:ext cx="4023360" cy="452628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508760"/>
            <a:ext cx="33832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8C4DD"/>
                </a:solidFill>
                <a:latin typeface="DejaVu Sans Mono"/>
              </a:defRPr>
            </a:pPr>
            <a:r>
              <a:t>index.html + style.css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4112" y="2148840"/>
            <a:ext cx="3520440" cy="20574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36992" y="231343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1583" y="231343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66175" y="231343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6" y="2258568"/>
            <a:ext cx="260604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primeiro contato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0416" y="2606040"/>
            <a:ext cx="32278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78892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788920"/>
            <a:ext cx="27523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CE5D2"/>
                </a:solidFill>
                <a:latin typeface="DejaVu Sans Mono"/>
              </a:defRPr>
            </a:pPr>
            <a:r>
              <a:t>&lt;h1&gt;Olá, web!&lt;/h1&gt;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3024631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024631"/>
            <a:ext cx="27523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4F7FF"/>
                </a:solidFill>
                <a:latin typeface="DejaVu Sans Mon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936992" y="3260343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7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3260343"/>
            <a:ext cx="27523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FAA88"/>
                </a:solidFill>
                <a:latin typeface="DejaVu Sans Mono"/>
              </a:defRPr>
            </a:pPr>
            <a:r>
              <a:t>h1 { color: #6ce5d2;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36008"/>
            <a:ext cx="3383280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6CE5D2"/>
                </a:solidFill>
                <a:latin typeface="DejaVu Sans"/>
              </a:defRPr>
            </a:pPr>
            <a:r>
              <a:t>Olá, web!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01 /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O navegador conecta as duas camadas.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HTML é uma linguagem de marcação. CSS é uma linguagem de estilos.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3154680" cy="2560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265176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6CE5D2"/>
                </a:solidFill>
                <a:latin typeface="DejaVu Sans Mono"/>
              </a:defRPr>
            </a:pPr>
            <a:r>
              <a:t>&lt;/&gt;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9584"/>
            <a:ext cx="26517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4F7FF"/>
                </a:solidFill>
                <a:latin typeface="DejaVu Sans"/>
              </a:defRPr>
            </a:pPr>
            <a:r>
              <a:t>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2651760" cy="8595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Conteúdo e significado:</a:t>
            </a:r>
          </a:p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títulos, links e formulários.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606040"/>
            <a:ext cx="3154680" cy="2560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807208"/>
            <a:ext cx="265176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8DAAFF"/>
                </a:solidFill>
                <a:latin typeface="DejaVu Sans Mono"/>
              </a:defRPr>
            </a:pPr>
            <a:r>
              <a:t>{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29584"/>
            <a:ext cx="26517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4F7FF"/>
                </a:solidFill>
                <a:latin typeface="DejaVu Sans"/>
              </a:defRPr>
            </a:pPr>
            <a:r>
              <a:t>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069080"/>
            <a:ext cx="2651760" cy="8595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Apresentação e layout:</a:t>
            </a:r>
          </a:p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cores, espaços e posições.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606040"/>
            <a:ext cx="3154680" cy="2560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807208"/>
            <a:ext cx="265176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AA88"/>
                </a:solidFill>
                <a:latin typeface="DejaVu Sans Mono"/>
              </a:defRPr>
            </a:pPr>
            <a: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29584"/>
            <a:ext cx="265176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F4F7FF"/>
                </a:solidFill>
                <a:latin typeface="DejaVu Sans"/>
              </a:defRPr>
            </a:pPr>
            <a:r>
              <a:t>PÁGINA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069080"/>
            <a:ext cx="2651760" cy="8595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O navegador interpreta</a:t>
            </a:r>
          </a:p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os arquivos e renderiza a interface.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337560"/>
            <a:ext cx="54864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6CE5D2"/>
                </a:solidFill>
                <a:latin typeface="DejaVu Sans"/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3337560"/>
            <a:ext cx="548640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800" b="0">
                <a:solidFill>
                  <a:srgbClr val="6CE5D2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69280"/>
            <a:ext cx="10607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JavaScript pode adicionar comportamento; nesta apresentação, o foco é HTML e CSS.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02 / IMPORTÂNCIA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Onde isso aparece no mundo real?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Os mesmos fundamentos sustentam páginas simples e interfaces de sistemas complexos.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3154680" cy="27889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834640"/>
            <a:ext cx="2743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6CE5D2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520440"/>
            <a:ext cx="2788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Sites e portfólios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096512"/>
            <a:ext cx="2697480" cy="9601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Conteúdo organizado, identidade visual e navegação clara.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632704"/>
            <a:ext cx="28803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PRESENÇA DIGITAL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606040"/>
            <a:ext cx="3154680" cy="27889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2834640"/>
            <a:ext cx="2743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6CE5D2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520440"/>
            <a:ext cx="2788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Sistemas e painéis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4096512"/>
            <a:ext cx="2697480" cy="9601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Formulários, menus, tabelas e interfaces administrativas.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5632704"/>
            <a:ext cx="28803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USO PROFISSIONAL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606040"/>
            <a:ext cx="3154680" cy="27889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2834640"/>
            <a:ext cx="27432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6CE5D2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520440"/>
            <a:ext cx="278892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Lojas e serviços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096512"/>
            <a:ext cx="2697480" cy="9601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Catálogo em cards, busca de produtos e telas de cadastro.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7072" y="5632704"/>
            <a:ext cx="288036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EXPERIÊNCIA DO USUÁRIO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03 / ESTRUTURA HTML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HTML: o esqueleto de uma página.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7132320" cy="41605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1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3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2075688"/>
            <a:ext cx="6217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exemplo.html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423160"/>
            <a:ext cx="683971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06039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606039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&lt;!doctype html&gt;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6715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867152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&lt;html lang="pt-BR"&gt;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128263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128263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&lt;head&gt;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389375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3389375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  &lt;meta charset="UTF-8"&gt;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650487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650487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  &lt;meta name="viewport"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91160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11600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4F7FF"/>
                </a:solidFill>
                <a:latin typeface="DejaVu Sans Mono"/>
              </a:defRPr>
            </a:pPr>
            <a:r>
              <a:t>        content="width=device-width, initial-scale=1"&gt;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172711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" y="4172711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  &lt;title&gt;Minha página&lt;/title&gt;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433823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4433823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&lt;/head&gt;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694936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1016" y="4694936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&lt;body&gt;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95604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1016" y="4956048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  &lt;h1&gt;Olá, web!&lt;/h1&gt;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21716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1016" y="5217160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&lt;/body&gt;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47827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67795"/>
                </a:solidFill>
                <a:latin typeface="DejaVu Sans Mono"/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1016" y="5478272"/>
            <a:ext cx="63642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CE5D2"/>
                </a:solidFill>
                <a:latin typeface="DejaVu Sans Mono"/>
              </a:defRPr>
            </a:pPr>
            <a:r>
              <a:t>&lt;/html&gt;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214884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3376" y="2148840"/>
            <a:ext cx="2706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Documento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2651760"/>
            <a:ext cx="270662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doctype declara HTML moderno; lang indica o idioma.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538728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8DAAFF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23376" y="3538728"/>
            <a:ext cx="2706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Metadados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3376" y="4041648"/>
            <a:ext cx="270662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head reúne título, codificação e configuração da viewport.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910328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AA88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3376" y="4910328"/>
            <a:ext cx="2706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Conteúdo visível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3376" y="5413248"/>
            <a:ext cx="270662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body contém os elementos apresentados na página.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04 / PRINCIPAIS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Tags: escolha pelo significado.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Semântica descreve a função do conteúdo e ajuda pessoas, ferramentas e mecanismos de busca.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4572000" cy="361188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697480"/>
            <a:ext cx="4023360" cy="50292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8D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3749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8DAAFF"/>
                </a:solidFill>
                <a:latin typeface="DejaVu Sans Mono"/>
              </a:defRPr>
            </a:pPr>
            <a:r>
              <a:t>&lt;header&gt; + &lt;nav&gt;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4023360" cy="173736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6CE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74720"/>
            <a:ext cx="3749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&lt;main&gt;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977639"/>
            <a:ext cx="1737360" cy="77724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FFA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069079"/>
            <a:ext cx="1463039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AA88"/>
                </a:solidFill>
                <a:latin typeface="DejaVu Sans Mono"/>
              </a:defRPr>
            </a:pPr>
            <a:r>
              <a:t>&lt;section&gt;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3977639"/>
            <a:ext cx="1600200" cy="77724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FFA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069079"/>
            <a:ext cx="13258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AA88"/>
                </a:solidFill>
                <a:latin typeface="DejaVu Sans Mono"/>
              </a:defRPr>
            </a:pPr>
            <a:r>
              <a:t>&lt;article&gt;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03520"/>
            <a:ext cx="4023360" cy="457200"/>
          </a:xfrm>
          <a:prstGeom prst="roundRect">
            <a:avLst>
              <a:gd name="adj" fmla="val 15000"/>
            </a:avLst>
          </a:prstGeom>
          <a:solidFill>
            <a:srgbClr val="0B1020"/>
          </a:solidFill>
          <a:ln>
            <a:solidFill>
              <a:srgbClr val="8D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94959"/>
            <a:ext cx="37490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8DAAFF"/>
                </a:solidFill>
                <a:latin typeface="DejaVu Sans Mono"/>
              </a:defRPr>
            </a:pPr>
            <a:r>
              <a:t>&lt;footer&gt;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514600"/>
            <a:ext cx="57150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6CE5D2"/>
                </a:solidFill>
                <a:latin typeface="DejaVu Sans Mono"/>
              </a:defRPr>
            </a:pPr>
            <a:r>
              <a:t>h1 … h6 /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871216"/>
            <a:ext cx="57150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Títulos em hierarquia e parágrafos.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246120"/>
            <a:ext cx="57150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6CE5D2"/>
                </a:solidFill>
                <a:latin typeface="DejaVu Sans Mono"/>
              </a:defRPr>
            </a:pPr>
            <a:r>
              <a:t>a / img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602736"/>
            <a:ext cx="57150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Links com href; imagens com src e alt.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977639"/>
            <a:ext cx="57150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6CE5D2"/>
                </a:solidFill>
                <a:latin typeface="DejaVu Sans Mono"/>
              </a:defRPr>
            </a:pPr>
            <a:r>
              <a:t>ul / ol / 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334255"/>
            <a:ext cx="57150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Listas sem ordem ou numeradas.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709160"/>
            <a:ext cx="57150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6CE5D2"/>
                </a:solidFill>
                <a:latin typeface="DejaVu Sans Mono"/>
              </a:defRPr>
            </a:pPr>
            <a:r>
              <a:t>div / span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5065776"/>
            <a:ext cx="571500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Agrupamentos sem significado específico.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5605272"/>
            <a:ext cx="562356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AA88"/>
                </a:solidFill>
                <a:latin typeface="DejaVu Sans"/>
              </a:defRPr>
            </a:pPr>
            <a:r>
              <a:t>Use tags semânticas quando houver uma função clara.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05 / FORMULÁRIOS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Formulários: transforme campos em dados.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6995160" cy="420624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1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3" y="21305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2075688"/>
            <a:ext cx="6080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exemplo.html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423160"/>
            <a:ext cx="670255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606039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606039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&lt;form action="/cadastro" method="post"&gt;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7985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2879852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&lt;label for="email"&gt;E-mail&lt;/label&gt;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153663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153663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&lt;input id="email" name="email"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427475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3427475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         type="email" required&gt;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701287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701287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822959" y="3975099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75099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&lt;label for="curso"&gt;Curso&lt;/label&gt;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24891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" y="4248912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&lt;select id="curso" name="curso"&gt;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52272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1016" y="4522724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  &lt;option&gt;HTML e CSS&lt;/option&gt;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796535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1016" y="4796535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&lt;/select&gt;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07034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1016" y="5070348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22959" y="534416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71016" y="5344160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  &lt;button type="submit"&gt;Enviar&lt;/button&gt;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5617971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1016" y="5617971"/>
            <a:ext cx="6227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&lt;/form&gt;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214884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86216" y="2148840"/>
            <a:ext cx="2889503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Identificação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86216" y="2651760"/>
            <a:ext cx="2889503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for conecta o rótulo ao id. name identifica o dado enviado.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52044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8DAAFF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6216" y="3520440"/>
            <a:ext cx="2889503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Validação nativa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86216" y="4023360"/>
            <a:ext cx="2889503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type="email" e required ajudam o navegador a validar.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89204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AA88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86216" y="4892040"/>
            <a:ext cx="2889503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Envio e servidor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86216" y="5394959"/>
            <a:ext cx="2889503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action aponta o destino. O servidor deve validar e salvar.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06 / REGRAS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CSS: selecione, declare e transforme.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5349240" cy="32004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4963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1" y="24963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3" y="24963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2441448"/>
            <a:ext cx="443484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788920"/>
            <a:ext cx="5056631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97180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971800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4F7FF"/>
                </a:solidFill>
                <a:latin typeface="DejaVu Sans Mono"/>
              </a:defRPr>
            </a:pPr>
            <a:r>
              <a:t>.card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32181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3321812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AA88"/>
                </a:solidFill>
                <a:latin typeface="DejaVu Sans Mono"/>
              </a:defRPr>
            </a:pPr>
            <a:r>
              <a:t>  background: #151e33;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67182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671824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AA88"/>
                </a:solidFill>
                <a:latin typeface="DejaVu Sans Mono"/>
              </a:defRPr>
            </a:pPr>
            <a:r>
              <a:t>  color: #f4f7ff;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021836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4021836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AA88"/>
                </a:solidFill>
                <a:latin typeface="DejaVu Sans Mono"/>
              </a:defRPr>
            </a:pPr>
            <a:r>
              <a:t>  padding: 24px;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37184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371848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FAA88"/>
                </a:solidFill>
                <a:latin typeface="DejaVu Sans Mono"/>
              </a:defRPr>
            </a:pPr>
            <a:r>
              <a:t>  border-radius: 18px;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72186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67795"/>
                </a:solidFill>
                <a:latin typeface="DejaVu Sans Mono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4721860"/>
            <a:ext cx="458114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4F7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2331720"/>
            <a:ext cx="4983480" cy="3200400"/>
          </a:xfrm>
          <a:prstGeom prst="roundRect">
            <a:avLst>
              <a:gd name="adj" fmla="val 15000"/>
            </a:avLst>
          </a:prstGeom>
          <a:solidFill>
            <a:srgbClr val="F1F5FC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95160" y="2880360"/>
            <a:ext cx="4069080" cy="20574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200400"/>
            <a:ext cx="338328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4F7FF"/>
                </a:solidFill>
                <a:latin typeface="DejaVu Sans"/>
              </a:defRPr>
            </a:pPr>
            <a:r>
              <a:t>Um card com estilo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840480"/>
            <a:ext cx="338328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Cor, espaçamento e cantos</a:t>
            </a:r>
          </a:p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definidos pela mesma regra.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42432"/>
            <a:ext cx="106070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CE5D2"/>
                </a:solidFill>
                <a:latin typeface="DejaVu Sans Mono"/>
              </a:defRPr>
            </a:pPr>
            <a:r>
              <a:t>No HTML: &lt;link rel="stylesheet" href="style.css"&gt;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07 / CLASSES, IDs E ESTADOS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Seletores: quem recebe o estilo?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Classes podem se repetir. O valor de um id deve ser único no documento.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86584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SELETOR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386584"/>
            <a:ext cx="33375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EXEMPLO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386584"/>
            <a:ext cx="365760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O QUE SELECIONA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34640"/>
            <a:ext cx="10835640" cy="512064"/>
          </a:xfrm>
          <a:prstGeom prst="rect">
            <a:avLst/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4F7FF"/>
                </a:solidFill>
                <a:latin typeface="DejaVu Sans"/>
              </a:defRPr>
            </a:pPr>
            <a: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926080"/>
            <a:ext cx="35661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8DAAFF"/>
                </a:solidFill>
                <a:latin typeface="DejaVu Sans Mono"/>
              </a:defRPr>
            </a:pPr>
            <a:r>
              <a:t>p { …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926080"/>
            <a:ext cx="3794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Todos os parágrafos.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10835640" cy="51206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93008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4F7FF"/>
                </a:solidFill>
                <a:latin typeface="DejaVu Sans"/>
              </a:defRPr>
            </a:pPr>
            <a:r>
              <a:t>Classe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493008"/>
            <a:ext cx="35661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8DAAFF"/>
                </a:solidFill>
                <a:latin typeface="DejaVu Sans Mono"/>
              </a:defRPr>
            </a:pPr>
            <a:r>
              <a:t>.card { …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493008"/>
            <a:ext cx="3794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Elementos com class="card".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968496"/>
            <a:ext cx="10835640" cy="512064"/>
          </a:xfrm>
          <a:prstGeom prst="rect">
            <a:avLst/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59935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4F7FF"/>
                </a:solidFill>
                <a:latin typeface="DejaVu Sans"/>
              </a:defRPr>
            </a:pPr>
            <a:r>
              <a:t>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059935"/>
            <a:ext cx="35661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8DAAFF"/>
                </a:solidFill>
                <a:latin typeface="DejaVu Sans Mono"/>
              </a:defRPr>
            </a:pPr>
            <a:r>
              <a:t>#inscricao { …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059935"/>
            <a:ext cx="3794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O elemento com id="inscricao".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535424"/>
            <a:ext cx="10835640" cy="512064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26864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4F7FF"/>
                </a:solidFill>
                <a:latin typeface="DejaVu Sans"/>
              </a:defRPr>
            </a:pPr>
            <a:r>
              <a:t>Atributo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626864"/>
            <a:ext cx="35661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8DAAFF"/>
                </a:solidFill>
                <a:latin typeface="DejaVu Sans Mono"/>
              </a:defRPr>
            </a:pPr>
            <a:r>
              <a:t>input[type="email"]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626864"/>
            <a:ext cx="3794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Campos com esse atributo e valor.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102352"/>
            <a:ext cx="10835640" cy="512064"/>
          </a:xfrm>
          <a:prstGeom prst="rect">
            <a:avLst/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93792"/>
            <a:ext cx="24688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4F7FF"/>
                </a:solidFill>
                <a:latin typeface="DejaVu Sans"/>
              </a:defRPr>
            </a:pPr>
            <a:r>
              <a:t>Pseudoclasse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193792"/>
            <a:ext cx="35661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8DAAFF"/>
                </a:solidFill>
                <a:latin typeface="DejaVu Sans Mono"/>
              </a:defRPr>
            </a:pPr>
            <a:r>
              <a:t>button:focus-visible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193792"/>
            <a:ext cx="379476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Botão em estado de foco visível.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34456"/>
            <a:ext cx="106070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CE5D2"/>
                </a:solidFill>
                <a:latin typeface="DejaVu Sans Mono"/>
              </a:defRPr>
            </a:pPr>
            <a:r>
              <a:t>Exemplo: &lt;article class="card destaque" id="curso-html"&gt;…&lt;/article&gt;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08 / CASCATA E ESPECIFICIDADE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Quando duas regras disputam o mesmo estilo.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5715000" cy="34290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87551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52143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6464" y="2532888"/>
            <a:ext cx="48006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" y="2880360"/>
            <a:ext cx="542239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63239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063239"/>
            <a:ext cx="494690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AA88"/>
                </a:solidFill>
                <a:latin typeface="DejaVu Sans Mono"/>
              </a:defRPr>
            </a:pPr>
            <a:r>
              <a:t>p { color: white;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387851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1016" y="3387851"/>
            <a:ext cx="494690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4F7FF"/>
                </a:solidFill>
                <a:latin typeface="DejaVu Sans Mon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22959" y="3712463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712463"/>
            <a:ext cx="494690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AA88"/>
                </a:solidFill>
                <a:latin typeface="DejaVu Sans Mono"/>
              </a:defRPr>
            </a:pPr>
            <a:r>
              <a:t>.aviso { color: #6ce5d2;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037075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016" y="4037075"/>
            <a:ext cx="494690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4F7FF"/>
                </a:solidFill>
                <a:latin typeface="DejaVu Sans Mon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59" y="436168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361688"/>
            <a:ext cx="494690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FAA88"/>
                </a:solidFill>
                <a:latin typeface="DejaVu Sans Mono"/>
              </a:defRPr>
            </a:pPr>
            <a:r>
              <a:t>#mensagem { color: #ffaa88; 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2423160"/>
            <a:ext cx="4754880" cy="1417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14032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78624" y="25877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2944" y="2532888"/>
            <a:ext cx="384048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index.html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2864" y="2880360"/>
            <a:ext cx="446227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063239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97496" y="3063239"/>
            <a:ext cx="398678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CE5D2"/>
                </a:solidFill>
                <a:latin typeface="DejaVu Sans Mono"/>
              </a:defRPr>
            </a:pPr>
            <a:r>
              <a:t>&lt;p id="mensagem" class="aviso"&gt;Olá!&lt;/p&gt;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233672"/>
            <a:ext cx="4023360" cy="5943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FAA88"/>
                </a:solidFill>
                <a:latin typeface="DejaVu Sans"/>
              </a:defRPr>
            </a:pPr>
            <a:r>
              <a:t>Olá!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074920"/>
            <a:ext cx="4023360" cy="7315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Neste exemplo, o seletor de ID</a:t>
            </a:r>
          </a:p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tem maior especificidade.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8"/>
            <a:ext cx="1069848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"/>
              </a:defRPr>
            </a:pPr>
            <a:r>
              <a:t>No mesmo contexto de cascata: ID &gt; classe &gt; tipo. Em empate, vence a última regra.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09 / ESPAÇAMENTO E DIMENSÕES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Box model: cada elemento ocupa uma caixa.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6400800" cy="3337560"/>
          </a:xfrm>
          <a:prstGeom prst="rect">
            <a:avLst/>
          </a:prstGeom>
          <a:solidFill>
            <a:srgbClr val="5A4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612648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4F7FF"/>
                </a:solidFill>
                <a:latin typeface="DejaVu Sans"/>
              </a:defRPr>
            </a:pPr>
            <a:r>
              <a:t>margin — espaço externo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971800"/>
            <a:ext cx="5577840" cy="2423160"/>
          </a:xfrm>
          <a:prstGeom prst="rect">
            <a:avLst/>
          </a:prstGeom>
          <a:solidFill>
            <a:srgbClr val="A68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530352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0B1020"/>
                </a:solidFill>
                <a:latin typeface="DejaVu Sans"/>
              </a:defRPr>
            </a:pPr>
            <a:r>
              <a:t>border — contorno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3493008"/>
            <a:ext cx="4901184" cy="1572768"/>
          </a:xfrm>
          <a:prstGeom prst="rect">
            <a:avLst/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18488" y="3584448"/>
            <a:ext cx="4626864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4F7FF"/>
                </a:solidFill>
                <a:latin typeface="DejaVu Sans"/>
              </a:defRPr>
            </a:pPr>
            <a:r>
              <a:t>padding — espaço interno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6231" y="4023360"/>
            <a:ext cx="4151376" cy="594360"/>
          </a:xfrm>
          <a:prstGeom prst="rect">
            <a:avLst/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1" y="4114800"/>
            <a:ext cx="3877056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"/>
              </a:defRPr>
            </a:pPr>
            <a:r>
              <a:t>conteúdo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468880"/>
            <a:ext cx="3931920" cy="22860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79" y="263347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91271" y="263347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5863" y="263347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3" y="2578608"/>
            <a:ext cx="30175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0104" y="2926080"/>
            <a:ext cx="363931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10896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3108960"/>
            <a:ext cx="31638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4F7FF"/>
                </a:solidFill>
                <a:latin typeface="DejaVu Sans Mono"/>
              </a:defRPr>
            </a:pPr>
            <a:r>
              <a:t>*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9547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74736" y="3395472"/>
            <a:ext cx="31638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AA88"/>
                </a:solidFill>
                <a:latin typeface="DejaVu Sans Mono"/>
              </a:defRPr>
            </a:pPr>
            <a:r>
              <a:t>  box-sizing: border-box;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68198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3681984"/>
            <a:ext cx="31638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4F7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29200"/>
            <a:ext cx="3749039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A largura declarada inclui</a:t>
            </a:r>
          </a:p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conteúdo, padding e borda.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10 / LAYOUT COM FLEXBOX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Flexbox: organize uma direção de cada vez.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Ideal para barras de navegação, alinhamento de botões e pequenos grupos de elementos.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0698480" cy="9601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2743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6CE5D2"/>
                </a:solidFill>
                <a:latin typeface="DejaVu Sans"/>
              </a:defRPr>
            </a:pPr>
            <a:r>
              <a:t>&lt;/&gt; DevLab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862072"/>
            <a:ext cx="1143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Cursos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862072"/>
            <a:ext cx="1143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Sobre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862072"/>
            <a:ext cx="11430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Entrar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852160" cy="224028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050791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4050791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43584" y="4050791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17904" y="3995928"/>
            <a:ext cx="49377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" y="4343400"/>
            <a:ext cx="555955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526280"/>
            <a:ext cx="5084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4F7FF"/>
                </a:solidFill>
                <a:latin typeface="DejaVu Sans Mono"/>
              </a:defRPr>
            </a:pPr>
            <a:r>
              <a:t>.navegacao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1279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812792"/>
            <a:ext cx="5084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AA88"/>
                </a:solidFill>
                <a:latin typeface="DejaVu Sans Mono"/>
              </a:defRPr>
            </a:pPr>
            <a:r>
              <a:t>  display: flex;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9930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5099304"/>
            <a:ext cx="5084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AA88"/>
                </a:solidFill>
                <a:latin typeface="DejaVu Sans Mono"/>
              </a:defRPr>
            </a:pPr>
            <a:r>
              <a:t>  justify-content: space-between;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85816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5385816"/>
            <a:ext cx="5084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AA88"/>
                </a:solidFill>
                <a:latin typeface="DejaVu Sans Mono"/>
              </a:defRPr>
            </a:pPr>
            <a:r>
              <a:t>  align-items: center;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232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5672328"/>
            <a:ext cx="50840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4F7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114800"/>
            <a:ext cx="4114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6CE5D2"/>
                </a:solidFill>
                <a:latin typeface="DejaVu Sans"/>
              </a:defRPr>
            </a:pPr>
            <a:r>
              <a:t>Eixo principal 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709160"/>
            <a:ext cx="4114800" cy="10972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justify-content distribui no eixo principal.</a:t>
            </a:r>
          </a:p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align-items alinha no eixo transversal.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11 / LAYOUT COM CSS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Grid: pense em linhas e colunas.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Ideal para galerias, listas de cards e áreas de um painel.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3383280" cy="1417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6CE5D2"/>
                </a:solidFill>
                <a:latin typeface="DejaVu Sans"/>
              </a:defRPr>
            </a:pPr>
            <a:r>
              <a:t>01 /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28346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Um card em cada coluna.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383280" cy="1417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770632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8DAAFF"/>
                </a:solidFill>
                <a:latin typeface="DejaVu Sans"/>
              </a:defRPr>
            </a:pPr>
            <a:r>
              <a:t>02 /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310128"/>
            <a:ext cx="28346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Um card em cada coluna.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383280" cy="1417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770632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FFAA88"/>
                </a:solidFill>
                <a:latin typeface="DejaVu Sans"/>
              </a:defRPr>
            </a:pPr>
            <a:r>
              <a:t>03 /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10128"/>
            <a:ext cx="283464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8C4DD"/>
                </a:solidFill>
                <a:latin typeface="DejaVu Sans"/>
              </a:defRPr>
            </a:pPr>
            <a:r>
              <a:t>Um card em cada coluna.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6309360" cy="214884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1879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78992" y="41879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43584" y="418795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17904" y="4133088"/>
            <a:ext cx="539496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4480560"/>
            <a:ext cx="601675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4663440"/>
            <a:ext cx="55412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.cursos {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3725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4937252"/>
            <a:ext cx="55412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AA88"/>
                </a:solidFill>
                <a:latin typeface="DejaVu Sans Mono"/>
              </a:defRPr>
            </a:pPr>
            <a:r>
              <a:t>  display: grid;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106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2456" y="5211064"/>
            <a:ext cx="55412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AA88"/>
                </a:solidFill>
                <a:latin typeface="DejaVu Sans Mono"/>
              </a:defRPr>
            </a:pPr>
            <a:r>
              <a:t>  grid-template-columns: repeat(3, 1fr);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4876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2456" y="5484876"/>
            <a:ext cx="55412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AA88"/>
                </a:solidFill>
                <a:latin typeface="DejaVu Sans Mono"/>
              </a:defRPr>
            </a:pPr>
            <a:r>
              <a:t>  gap: 16px;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5868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62456" y="5758688"/>
            <a:ext cx="554126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526280"/>
            <a:ext cx="3840480" cy="1280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B8C4DD"/>
                </a:solidFill>
                <a:latin typeface="DejaVu Sans"/>
              </a:defRPr>
            </a:pPr>
            <a:r>
              <a:t>3 colunas proporcionais.</a:t>
            </a:r>
          </a:p>
          <a:p>
            <a:pPr>
              <a:spcAft>
                <a:spcPts val="700"/>
              </a:spcAft>
              <a:defRPr sz="1800" b="0">
                <a:solidFill>
                  <a:srgbClr val="B8C4DD"/>
                </a:solidFill>
                <a:latin typeface="DejaVu Sans"/>
              </a:defRPr>
            </a:pPr>
            <a:r>
              <a:t>16px entre os cards.</a:t>
            </a:r>
          </a:p>
          <a:p>
            <a:pPr>
              <a:spcAft>
                <a:spcPts val="700"/>
              </a:spcAft>
              <a:defRPr sz="1800" b="0">
                <a:solidFill>
                  <a:srgbClr val="B8C4DD"/>
                </a:solidFill>
                <a:latin typeface="DejaVu Sans"/>
              </a:defRPr>
            </a:pPr>
            <a:r>
              <a:t>Layout definido no contêiner.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12 / TELAS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Responsividade: adapte o layout ao espaço.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Não é apenas encolher: é reorganizar o conteúdo para manter leitura e uso confortáveis.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4023360" cy="2560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33832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6CE5D2"/>
                </a:solidFill>
                <a:latin typeface="DejaVu Sans"/>
              </a:defRPr>
            </a:pPr>
            <a:r>
              <a:t>DESKTOP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337560"/>
            <a:ext cx="1005840" cy="1097280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7128" y="3337560"/>
            <a:ext cx="1005840" cy="1097280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46704" y="3337560"/>
            <a:ext cx="1005840" cy="1097280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6360" y="2331720"/>
            <a:ext cx="1508760" cy="333756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560320"/>
            <a:ext cx="118872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3072384"/>
            <a:ext cx="1051560" cy="539496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3776472"/>
            <a:ext cx="1051560" cy="539496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60" y="4480560"/>
            <a:ext cx="1051560" cy="539496"/>
          </a:xfrm>
          <a:prstGeom prst="roundRect">
            <a:avLst>
              <a:gd name="adj" fmla="val 15000"/>
            </a:avLst>
          </a:prstGeom>
          <a:solidFill>
            <a:srgbClr val="285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0" y="2560320"/>
            <a:ext cx="4389120" cy="292608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27249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FA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9792" y="27249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F4D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44383" y="2724912"/>
            <a:ext cx="77724" cy="77724"/>
          </a:xfrm>
          <a:prstGeom prst="roundRect">
            <a:avLst>
              <a:gd name="adj" fmla="val 15000"/>
            </a:avLst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704" y="2670048"/>
            <a:ext cx="34747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 Mono"/>
              </a:defRPr>
            </a:pPr>
            <a:r>
              <a:t>style.css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78624" y="3017520"/>
            <a:ext cx="4096511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3200400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63256" y="3200400"/>
            <a:ext cx="36210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CE5D2"/>
                </a:solidFill>
                <a:latin typeface="DejaVu Sans Mono"/>
              </a:defRPr>
            </a:pPr>
            <a:r>
              <a:t>@media (max-width: 700px) {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474212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474212"/>
            <a:ext cx="36210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  .cursos {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48024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6" y="3748024"/>
            <a:ext cx="36210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AA88"/>
                </a:solidFill>
                <a:latin typeface="DejaVu Sans Mono"/>
              </a:defRPr>
            </a:pPr>
            <a:r>
              <a:t>    grid-template-columns: 1fr;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021836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63256" y="4021836"/>
            <a:ext cx="36210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 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295648"/>
            <a:ext cx="347472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67795"/>
                </a:solidFill>
                <a:latin typeface="DejaVu Sans Mono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295648"/>
            <a:ext cx="3621024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4F7FF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852160"/>
            <a:ext cx="1069848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6CE5D2"/>
                </a:solidFill>
                <a:latin typeface="DejaVu Sans"/>
              </a:defRPr>
            </a:pPr>
            <a:r>
              <a:t>Viewport + dimensões flexíveis + media queries + testes em larguras diferentes.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13 / 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Uma boa interface também precisa ser acessível.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120640" cy="150876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5486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6CE5D2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886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Semântica e hierarquia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3749039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Títulos coerentes, regiões claras e HTML pelo significado.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5120640" cy="150876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679192"/>
            <a:ext cx="5486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8DAAFF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886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Rótulos e alternativas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200400"/>
            <a:ext cx="3749039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Associe label aos campos e use alt adequado em imagens.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5120640" cy="150876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62272"/>
            <a:ext cx="5486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FAA88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53128"/>
            <a:ext cx="3886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Leitura e contraste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3749039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Texto legível, espaço confortável e informação além da cor.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251960"/>
            <a:ext cx="5120640" cy="150876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462272"/>
            <a:ext cx="54864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4D381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53128"/>
            <a:ext cx="38862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Teclado e foco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983480"/>
            <a:ext cx="3749039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Mantenha a ordem de navegação e um indicador de foco visível.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14 / EXEMPLO FUNCIONANDO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Projeto DevLab: os conceitos juntos.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Página de cursos feita com HTML e CSS, sem frameworks ou dependências externas.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15</a:t>
            </a:r>
          </a:p>
        </p:txBody>
      </p:sp>
      <p:pic>
        <p:nvPicPr>
          <p:cNvPr id="9" name="Picture 8" descr="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4709160" cy="3310128"/>
          </a:xfrm>
          <a:prstGeom prst="rect">
            <a:avLst/>
          </a:prstGeom>
        </p:spPr>
      </p:pic>
      <p:pic>
        <p:nvPicPr>
          <p:cNvPr id="10" name="Picture 9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423160"/>
            <a:ext cx="1434389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2651760"/>
            <a:ext cx="36576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6CE5D2"/>
                </a:solidFill>
                <a:latin typeface="DejaVu Sans"/>
              </a:defRPr>
            </a:pPr>
            <a:r>
              <a:t>O que observar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38328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✓  HTML semântico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88620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✓  Navegação com Flexbox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38912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✓  Cards com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89204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✓  Formulário com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394960"/>
            <a:ext cx="3657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B8C4DD"/>
                </a:solidFill>
                <a:latin typeface="DejaVu Sans"/>
              </a:defRPr>
            </a:pPr>
            <a:r>
              <a:t>✓  Layout responsivo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CE5D2"/>
                </a:solidFill>
                <a:latin typeface="DejaVu Sans"/>
              </a:defRPr>
            </a:pPr>
            <a:r>
              <a:t>Capturas reais do exemplo.html em 1280px e 390px de largura.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15 / ROTEIRO PRÁTICO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Demonstração ao vivo: três verificações.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2423160"/>
            <a:ext cx="993038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Redimensionar a janela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456" y="2926080"/>
            <a:ext cx="993038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Acima de 700px: três cards. Até 700px: uma coluna.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3611880"/>
            <a:ext cx="993038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Navegar usando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4114800"/>
            <a:ext cx="993038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Observe os links, os campos e o contorno de foco.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548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6CE5D2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4800600"/>
            <a:ext cx="993038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4F7FF"/>
                </a:solidFill>
                <a:latin typeface="DejaVu Sans"/>
              </a:defRPr>
            </a:pPr>
            <a:r>
              <a:t>Testar o formulário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2456" y="5303520"/>
            <a:ext cx="9930384" cy="10058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Envie vazio; teste um e-mail inválido; depois use dados fictícios válidos.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16 / REVISÃO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O essencial para levar com você.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1645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6CE5D2"/>
                </a:solidFill>
                <a:latin typeface="DejaVu Sans Mono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8686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4F7FF"/>
                </a:solidFill>
                <a:latin typeface="DejaVu Sans"/>
              </a:defRPr>
            </a:pPr>
            <a:r>
              <a:t>Estruture pelo significado.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80360"/>
            <a:ext cx="86868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Tags semânticas, hierarquia, links e formulários.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1645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8DAAFF"/>
                </a:solidFill>
                <a:latin typeface="DejaVu Sans Mono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74720"/>
            <a:ext cx="8686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4F7FF"/>
                </a:solidFill>
                <a:latin typeface="DejaVu Sans"/>
              </a:defRPr>
            </a:pPr>
            <a:r>
              <a:t>Estilize com regras claras.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977639"/>
            <a:ext cx="86868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Seletores, classes, IDs, cascata e box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645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AA88"/>
                </a:solidFill>
                <a:latin typeface="DejaVu Sans Mono"/>
              </a:defRPr>
            </a:pPr>
            <a: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572000"/>
            <a:ext cx="86868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4F7FF"/>
                </a:solidFill>
                <a:latin typeface="DejaVu Sans"/>
              </a:defRPr>
            </a:pPr>
            <a:r>
              <a:t>Planeje para várias telas.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074920"/>
            <a:ext cx="8686800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8C4DD"/>
                </a:solidFill>
                <a:latin typeface="DejaVu Sans"/>
              </a:defRPr>
            </a:pPr>
            <a:r>
              <a:t>Flexbox, Grid, media queries e testes de uso.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33288"/>
            <a:ext cx="10698480" cy="45720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solidFill>
              <a:srgbClr val="2A3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833872"/>
            <a:ext cx="102870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6CE5D2"/>
                </a:solidFill>
                <a:latin typeface="DejaVu Sans"/>
              </a:defRPr>
            </a:pPr>
            <a:r>
              <a:t>DESAFIO À TURMA   Qual a diferença entre class e id? E entre margin e padding?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54864" cy="201168"/>
          </a:xfrm>
          <a:prstGeom prst="rect">
            <a:avLst/>
          </a:prstGeom>
          <a:solidFill>
            <a:srgbClr val="6CE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29184"/>
            <a:ext cx="914400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6CE5D2"/>
                </a:solidFill>
                <a:latin typeface="DejaVu Sans"/>
              </a:defRPr>
            </a:pPr>
            <a:r>
              <a:t>17 /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9536"/>
            <a:ext cx="10972800" cy="9144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3100" b="1">
                <a:solidFill>
                  <a:srgbClr val="F4F7FF"/>
                </a:solidFill>
                <a:latin typeface="DejaVu Sans"/>
              </a:defRPr>
            </a:pPr>
            <a:r>
              <a:t>Fontes para aprofundar e praticar.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82496"/>
            <a:ext cx="109728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8C4DD"/>
                </a:solidFill>
                <a:latin typeface="DejaVu Sans"/>
              </a:defRPr>
            </a:pPr>
            <a:r>
              <a:t>Documentação técnica para conferir conceitos, exemplos e boas práticas.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37376"/>
            <a:ext cx="11000232" cy="10972"/>
          </a:xfrm>
          <a:prstGeom prst="rect">
            <a:avLst/>
          </a:prstGeom>
          <a:solidFill>
            <a:srgbClr val="2A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47104"/>
            <a:ext cx="82296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B8C4DD"/>
                </a:solidFill>
                <a:latin typeface="DejaVu Sans"/>
              </a:defRPr>
            </a:pPr>
            <a:r>
              <a:t>DESENVOLVIMENTO DE SISTEMAS     /     TEMA 03     /     HTML +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232" y="6501384"/>
            <a:ext cx="54864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6CE5D2"/>
                </a:solidFill>
                <a:latin typeface="DejaVu Sans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2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4F7FF"/>
                </a:solidFill>
                <a:latin typeface="DejaVu Sans"/>
              </a:defRPr>
            </a:pPr>
            <a:r>
              <a:t>MDN • 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487168"/>
            <a:ext cx="7086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CE5D2"/>
                </a:solidFill>
                <a:latin typeface="DejaVu Sans Mono"/>
              </a:defRPr>
            </a:pPr>
            <a:r>
              <a:rPr>
                <a:hlinkClick r:id="rId2"/>
              </a:rPr>
              <a:t>developer.mozilla.org/pt-BR/docs/Web/HTML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4F7FF"/>
                </a:solidFill>
                <a:latin typeface="DejaVu Sans"/>
              </a:defRPr>
            </a:pPr>
            <a:r>
              <a:t>MDN •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145536"/>
            <a:ext cx="7086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CE5D2"/>
                </a:solidFill>
                <a:latin typeface="DejaVu Sans Mono"/>
              </a:defRPr>
            </a:pPr>
            <a:r>
              <a:rPr>
                <a:hlinkClick r:id="rId3"/>
              </a:rPr>
              <a:t>developer.mozilla.org/pt-BR/docs/Web/CSS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4F7FF"/>
                </a:solidFill>
                <a:latin typeface="DejaVu Sans"/>
              </a:defRPr>
            </a:pPr>
            <a:r>
              <a:t>MDN • Formulários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803904"/>
            <a:ext cx="7086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CE5D2"/>
                </a:solidFill>
                <a:latin typeface="DejaVu Sans Mono"/>
              </a:defRPr>
            </a:pPr>
            <a:r>
              <a:rPr>
                <a:hlinkClick r:id="rId4"/>
              </a:rPr>
              <a:t>developer.mozilla.org/en-US/docs/Learn_web_development/Extensions/Forms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25696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4F7FF"/>
                </a:solidFill>
                <a:latin typeface="DejaVu Sans"/>
              </a:defRPr>
            </a:pPr>
            <a:r>
              <a:t>MDN • Layout responsivo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462272"/>
            <a:ext cx="7086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CE5D2"/>
                </a:solidFill>
                <a:latin typeface="DejaVu Sans Mono"/>
              </a:defRPr>
            </a:pPr>
            <a:r>
              <a:rPr>
                <a:hlinkClick r:id="rId5"/>
              </a:rPr>
              <a:t>developer.mozilla.org/en-US/docs/Learn_web_development/Core/CSS_layout/Responsive_Design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84064"/>
            <a:ext cx="36576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4F7FF"/>
                </a:solidFill>
                <a:latin typeface="DejaVu Sans"/>
              </a:defRPr>
            </a:pPr>
            <a:r>
              <a:t>W3C WAI • Acessibilidade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120640"/>
            <a:ext cx="708660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CE5D2"/>
                </a:solidFill>
                <a:latin typeface="DejaVu Sans Mono"/>
              </a:defRPr>
            </a:pPr>
            <a:r>
              <a:rPr>
                <a:hlinkClick r:id="rId6"/>
              </a:rPr>
              <a:t>w3.org/WAI/tutorials/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943600"/>
            <a:ext cx="10698480" cy="274320"/>
          </a:xfrm>
          <a:prstGeom prst="roundRect">
            <a:avLst>
              <a:gd name="adj" fmla="val 15000"/>
            </a:avLst>
          </a:prstGeom>
          <a:solidFill>
            <a:srgbClr val="15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980176"/>
            <a:ext cx="1033272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8C4DD"/>
                </a:solidFill>
                <a:latin typeface="DejaVu Sans"/>
              </a:defRPr>
            </a:pPr>
            <a:r>
              <a:t>PRÓXIMO PASSO  /  Edite uma cor, crie outro card e teste novamente em uma tela estreita.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CE5D2"/>
      </a:hlink>
      <a:folHlink>
        <a:srgbClr val="8DAA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CE5D2"/>
      </a:hlink>
      <a:folHlink>
        <a:srgbClr val="8DAA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&amp; CSS — Da estrutura à experiência</dc:title>
  <dc:subject>Tema 03 — Desenvolvimento Web — Técnico em Desenvolvimento de Sistemas</dc:subject>
  <dc:creator>Apresentação educacional</dc:creator>
  <cp:keywords>HTML, CSS, formulários, seletores, classes, IDs, Flexbox, Grid, responsividade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