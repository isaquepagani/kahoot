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9" r:id="rId11"/>
    <p:sldId id="260" r:id="rId12"/>
    <p:sldId id="261" r:id="rId13"/>
    <p:sldId id="262" r:id="rId14"/>
    <p:sldId id="263" r:id="rId15"/>
    <p:sldId id="265" r:id="rId17"/>
    <p:sldId id="266" r:id="rId18"/>
    <p:sldId id="267" r:id="rId19"/>
    <p:sldId id="268" r:id="rId20"/>
    <p:sldId id="269" r:id="rId21"/>
    <p:sldId id="270" r:id="rId22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384048"/>
            <a:ext cx="54864" cy="201168"/>
          </a:xfrm>
          <a:prstGeom prst="rect">
            <a:avLst/>
          </a:prstGeom>
          <a:solidFill>
            <a:srgbClr val="6CE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329184"/>
            <a:ext cx="9144000" cy="256032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6CE5D2"/>
                </a:solidFill>
                <a:latin typeface="DejaVu Sans"/>
              </a:defRPr>
            </a:pPr>
            <a:r>
              <a:t>TEMA 03  /  DESENVOLVIMENTO WEB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59536"/>
            <a:ext cx="10972800" cy="9144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3100" b="1">
                <a:solidFill>
                  <a:srgbClr val="F4F7FF"/>
                </a:solidFill>
                <a:latin typeface="DejaVu Sans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594360" y="6437376"/>
            <a:ext cx="11000232" cy="10972"/>
          </a:xfrm>
          <a:prstGeom prst="rect">
            <a:avLst/>
          </a:prstGeom>
          <a:solidFill>
            <a:srgbClr val="2A38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" y="6547104"/>
            <a:ext cx="8229600" cy="1828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B8C4DD"/>
                </a:solidFill>
                <a:latin typeface="DejaVu Sans"/>
              </a:defRPr>
            </a:pPr>
            <a:r>
              <a:t>DESENVOLVIMENTO DE SISTEMAS     /     TEMA 03     /     HTML + CSS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0232" y="6501384"/>
            <a:ext cx="548640" cy="2286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6CE5D2"/>
                </a:solidFill>
                <a:latin typeface="DejaVu Sans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097280"/>
            <a:ext cx="6858000" cy="7772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5200" b="1">
                <a:solidFill>
                  <a:srgbClr val="F4F7FF"/>
                </a:solidFill>
                <a:latin typeface="DejaVu Sans"/>
              </a:defRPr>
            </a:pPr>
            <a:r>
              <a:t>HTML &amp; CSS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039112"/>
            <a:ext cx="6766560" cy="13716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3600" b="1">
                <a:solidFill>
                  <a:srgbClr val="6CE5D2"/>
                </a:solidFill>
                <a:latin typeface="DejaVu Sans"/>
              </a:defRPr>
            </a:pPr>
            <a:r>
              <a:t>Da estrutura</a:t>
            </a:r>
          </a:p>
          <a:p>
            <a:pPr>
              <a:spcAft>
                <a:spcPts val="700"/>
              </a:spcAft>
              <a:defRPr sz="3600" b="1">
                <a:solidFill>
                  <a:srgbClr val="6CE5D2"/>
                </a:solidFill>
                <a:latin typeface="DejaVu Sans"/>
              </a:defRPr>
            </a:pPr>
            <a:r>
              <a:t>à experiência.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49039"/>
            <a:ext cx="6217920" cy="9144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2000" b="0">
                <a:solidFill>
                  <a:srgbClr val="B8C4DD"/>
                </a:solidFill>
                <a:latin typeface="DejaVu Sans"/>
              </a:defRPr>
            </a:pPr>
            <a:r>
              <a:t>Como transformar conteúdo em páginas</a:t>
            </a:r>
          </a:p>
          <a:p>
            <a:pPr>
              <a:spcAft>
                <a:spcPts val="700"/>
              </a:spcAft>
              <a:defRPr sz="2000" b="0">
                <a:solidFill>
                  <a:srgbClr val="B8C4DD"/>
                </a:solidFill>
                <a:latin typeface="DejaVu Sans"/>
              </a:defRPr>
            </a:pPr>
            <a:r>
              <a:t>claras, bonitas e responsivas.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084064"/>
            <a:ext cx="1600200" cy="329184"/>
          </a:xfrm>
          <a:prstGeom prst="roundRect">
            <a:avLst>
              <a:gd name="adj" fmla="val 15000"/>
            </a:avLst>
          </a:prstGeom>
          <a:solidFill>
            <a:srgbClr val="151E33"/>
          </a:solidFill>
          <a:ln>
            <a:solidFill>
              <a:srgbClr val="2A38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5134355"/>
            <a:ext cx="1417320" cy="237744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6CE5D2"/>
                </a:solidFill>
                <a:latin typeface="DejaVu Sans Mono"/>
              </a:defRPr>
            </a:pPr>
            <a:r>
              <a:t>ESTRUTURA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95728" y="5084064"/>
            <a:ext cx="1234440" cy="329184"/>
          </a:xfrm>
          <a:prstGeom prst="roundRect">
            <a:avLst>
              <a:gd name="adj" fmla="val 15000"/>
            </a:avLst>
          </a:prstGeom>
          <a:solidFill>
            <a:srgbClr val="151E33"/>
          </a:solidFill>
          <a:ln>
            <a:solidFill>
              <a:srgbClr val="2A38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05456" y="5134355"/>
            <a:ext cx="1051560" cy="237744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6CE5D2"/>
                </a:solidFill>
                <a:latin typeface="DejaVu Sans Mono"/>
              </a:defRPr>
            </a:pPr>
            <a:r>
              <a:t>ESTILO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85615" y="5084064"/>
            <a:ext cx="2286000" cy="329184"/>
          </a:xfrm>
          <a:prstGeom prst="roundRect">
            <a:avLst>
              <a:gd name="adj" fmla="val 15000"/>
            </a:avLst>
          </a:prstGeom>
          <a:solidFill>
            <a:srgbClr val="151E33"/>
          </a:solidFill>
          <a:ln>
            <a:solidFill>
              <a:srgbClr val="2A38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95344" y="5134355"/>
            <a:ext cx="2103120" cy="237744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6CE5D2"/>
                </a:solidFill>
                <a:latin typeface="DejaVu Sans Mono"/>
              </a:defRPr>
            </a:pPr>
            <a:r>
              <a:t>RESPONSIVIDADE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79" y="1188720"/>
            <a:ext cx="4023360" cy="4526280"/>
          </a:xfrm>
          <a:prstGeom prst="roundRect">
            <a:avLst>
              <a:gd name="adj" fmla="val 15000"/>
            </a:avLst>
          </a:prstGeom>
          <a:solidFill>
            <a:srgbClr val="151E33"/>
          </a:solidFill>
          <a:ln>
            <a:solidFill>
              <a:srgbClr val="2A38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18120" y="1508760"/>
            <a:ext cx="3383280" cy="36576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B8C4DD"/>
                </a:solidFill>
                <a:latin typeface="DejaVu Sans Mono"/>
              </a:defRPr>
            </a:pPr>
            <a:r>
              <a:t>index.html + style.css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54112" y="2148840"/>
            <a:ext cx="3520440" cy="2057400"/>
          </a:xfrm>
          <a:prstGeom prst="roundRect">
            <a:avLst>
              <a:gd name="adj" fmla="val 15000"/>
            </a:avLst>
          </a:prstGeom>
          <a:solidFill>
            <a:srgbClr val="151E33"/>
          </a:solidFill>
          <a:ln>
            <a:solidFill>
              <a:srgbClr val="2A38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936992" y="2313432"/>
            <a:ext cx="77724" cy="77724"/>
          </a:xfrm>
          <a:prstGeom prst="roundRect">
            <a:avLst>
              <a:gd name="adj" fmla="val 15000"/>
            </a:avLst>
          </a:prstGeom>
          <a:solidFill>
            <a:srgbClr val="FFAA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101583" y="2313432"/>
            <a:ext cx="77724" cy="77724"/>
          </a:xfrm>
          <a:prstGeom prst="roundRect">
            <a:avLst>
              <a:gd name="adj" fmla="val 15000"/>
            </a:avLst>
          </a:prstGeom>
          <a:solidFill>
            <a:srgbClr val="F4D3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266175" y="2313432"/>
            <a:ext cx="77724" cy="77724"/>
          </a:xfrm>
          <a:prstGeom prst="roundRect">
            <a:avLst>
              <a:gd name="adj" fmla="val 15000"/>
            </a:avLst>
          </a:prstGeom>
          <a:solidFill>
            <a:srgbClr val="6CE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40496" y="2258568"/>
            <a:ext cx="2606040" cy="256032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B8C4DD"/>
                </a:solidFill>
                <a:latin typeface="DejaVu Sans Mono"/>
              </a:defRPr>
            </a:pPr>
            <a:r>
              <a:t>primeiro contato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900416" y="2606040"/>
            <a:ext cx="3227832" cy="10972"/>
          </a:xfrm>
          <a:prstGeom prst="rect">
            <a:avLst/>
          </a:prstGeom>
          <a:solidFill>
            <a:srgbClr val="2A38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36992" y="2788920"/>
            <a:ext cx="347472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700" b="0">
                <a:solidFill>
                  <a:srgbClr val="667795"/>
                </a:solidFill>
                <a:latin typeface="DejaVu Sans Mono"/>
              </a:defRPr>
            </a:pPr>
            <a:r>
              <a:t>01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5048" y="2788920"/>
            <a:ext cx="2752344" cy="4114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6CE5D2"/>
                </a:solidFill>
                <a:latin typeface="DejaVu Sans Mono"/>
              </a:defRPr>
            </a:pPr>
            <a:r>
              <a:t>&lt;h1&gt;Olá, web!&lt;/h1&gt;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36992" y="3024631"/>
            <a:ext cx="347472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700" b="0">
                <a:solidFill>
                  <a:srgbClr val="667795"/>
                </a:solidFill>
                <a:latin typeface="DejaVu Sans Mono"/>
              </a:defRPr>
            </a:pPr>
            <a:r>
              <a:t>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5048" y="3024631"/>
            <a:ext cx="2752344" cy="4114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F4F7FF"/>
                </a:solidFill>
                <a:latin typeface="DejaVu Sans Mono"/>
              </a:defRPr>
            </a:pPr>
          </a:p>
        </p:txBody>
      </p:sp>
      <p:sp>
        <p:nvSpPr>
          <p:cNvPr id="29" name="TextBox 28"/>
          <p:cNvSpPr txBox="1"/>
          <p:nvPr/>
        </p:nvSpPr>
        <p:spPr>
          <a:xfrm>
            <a:off x="7936992" y="3260343"/>
            <a:ext cx="347472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700" b="0">
                <a:solidFill>
                  <a:srgbClr val="667795"/>
                </a:solidFill>
                <a:latin typeface="DejaVu Sans Mono"/>
              </a:defRPr>
            </a:pPr>
            <a:r>
              <a:t>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5048" y="3260343"/>
            <a:ext cx="2752344" cy="4114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FFAA88"/>
                </a:solidFill>
                <a:latin typeface="DejaVu Sans Mono"/>
              </a:defRPr>
            </a:pPr>
            <a:r>
              <a:t>h1 { color: #6ce5d2; }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63840" y="4636008"/>
            <a:ext cx="3383280" cy="6400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2900" b="1">
                <a:solidFill>
                  <a:srgbClr val="6CE5D2"/>
                </a:solidFill>
                <a:latin typeface="DejaVu Sans"/>
              </a:defRPr>
            </a:pPr>
            <a:r>
              <a:t>Olá, web!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5605272"/>
            <a:ext cx="6400800" cy="237744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6CE5D2"/>
                </a:solidFill>
                <a:latin typeface="DejaVu Sans"/>
              </a:defRPr>
            </a:pPr>
            <a:r>
              <a:t>APRESENTADO POR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5925312"/>
            <a:ext cx="6492240" cy="36576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F4F7FF"/>
                </a:solidFill>
                <a:latin typeface="DejaVu Sans"/>
              </a:defRPr>
            </a:pPr>
            <a:r>
              <a:t>Isaque • Jean • João Vitor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384048"/>
            <a:ext cx="54864" cy="201168"/>
          </a:xfrm>
          <a:prstGeom prst="rect">
            <a:avLst/>
          </a:prstGeom>
          <a:solidFill>
            <a:srgbClr val="6CE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329184"/>
            <a:ext cx="9144000" cy="256032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6CE5D2"/>
                </a:solidFill>
                <a:latin typeface="DejaVu Sans"/>
              </a:defRPr>
            </a:pPr>
            <a:r>
              <a:t>01 / IMPORTÂNCIA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59536"/>
            <a:ext cx="10972800" cy="9144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3100" b="1">
                <a:solidFill>
                  <a:srgbClr val="F4F7FF"/>
                </a:solidFill>
                <a:latin typeface="DejaVu Sans"/>
              </a:defRPr>
            </a:pPr>
            <a:r>
              <a:t>HTML + CSS: a base das interfaces web.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682496"/>
            <a:ext cx="10972800" cy="5029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B8C4DD"/>
                </a:solidFill>
                <a:latin typeface="DejaVu Sans"/>
              </a:defRPr>
            </a:pPr>
            <a:r>
              <a:t>HTML organiza o conteúdo. CSS define a apresentação visual e o layout.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437376"/>
            <a:ext cx="11000232" cy="10972"/>
          </a:xfrm>
          <a:prstGeom prst="rect">
            <a:avLst/>
          </a:prstGeom>
          <a:solidFill>
            <a:srgbClr val="2A38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6547104"/>
            <a:ext cx="8229600" cy="1828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B8C4DD"/>
                </a:solidFill>
                <a:latin typeface="DejaVu Sans"/>
              </a:defRPr>
            </a:pPr>
            <a:r>
              <a:t>DESENVOLVIMENTO DE SISTEMAS     /     TEMA 03     /     HTML + CSS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0232" y="6501384"/>
            <a:ext cx="548640" cy="2286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6CE5D2"/>
                </a:solidFill>
                <a:latin typeface="DejaVu Sans"/>
              </a:defRPr>
            </a:pPr>
            <a:r>
              <a:t>02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606040"/>
            <a:ext cx="3154680" cy="2560320"/>
          </a:xfrm>
          <a:prstGeom prst="roundRect">
            <a:avLst>
              <a:gd name="adj" fmla="val 15000"/>
            </a:avLst>
          </a:prstGeom>
          <a:solidFill>
            <a:srgbClr val="151E33"/>
          </a:solidFill>
          <a:ln>
            <a:solidFill>
              <a:srgbClr val="2A38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807208"/>
            <a:ext cx="2651760" cy="59436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3400" b="1">
                <a:solidFill>
                  <a:srgbClr val="6CE5D2"/>
                </a:solidFill>
                <a:latin typeface="DejaVu Sans Mono"/>
              </a:defRPr>
            </a:pPr>
            <a:r>
              <a:t>&lt;/&gt;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529584"/>
            <a:ext cx="2651760" cy="36576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2100" b="1">
                <a:solidFill>
                  <a:srgbClr val="F4F7FF"/>
                </a:solidFill>
                <a:latin typeface="DejaVu Sans"/>
              </a:defRPr>
            </a:pPr>
            <a:r>
              <a:t>HTML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069080"/>
            <a:ext cx="2651760" cy="859536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B8C4DD"/>
                </a:solidFill>
                <a:latin typeface="DejaVu Sans"/>
              </a:defRPr>
            </a:pPr>
            <a:r>
              <a:t>Conteúdo e significado:</a:t>
            </a:r>
          </a:p>
          <a:p>
            <a:pPr>
              <a:spcAft>
                <a:spcPts val="700"/>
              </a:spcAft>
              <a:defRPr sz="1500" b="0">
                <a:solidFill>
                  <a:srgbClr val="B8C4DD"/>
                </a:solidFill>
                <a:latin typeface="DejaVu Sans"/>
              </a:defRPr>
            </a:pPr>
            <a:r>
              <a:t>títulos, links e formulários.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26280" y="2606040"/>
            <a:ext cx="3154680" cy="2560320"/>
          </a:xfrm>
          <a:prstGeom prst="roundRect">
            <a:avLst>
              <a:gd name="adj" fmla="val 15000"/>
            </a:avLst>
          </a:prstGeom>
          <a:solidFill>
            <a:srgbClr val="151E33"/>
          </a:solidFill>
          <a:ln>
            <a:solidFill>
              <a:srgbClr val="2A38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0" y="2807208"/>
            <a:ext cx="2651760" cy="59436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3400" b="1">
                <a:solidFill>
                  <a:srgbClr val="8DAAFF"/>
                </a:solidFill>
                <a:latin typeface="DejaVu Sans Mono"/>
              </a:defRPr>
            </a:pPr>
            <a:r>
              <a:t>{ }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3529584"/>
            <a:ext cx="2651760" cy="36576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2100" b="1">
                <a:solidFill>
                  <a:srgbClr val="F4F7FF"/>
                </a:solidFill>
                <a:latin typeface="DejaVu Sans"/>
              </a:defRPr>
            </a:pPr>
            <a:r>
              <a:t>CSS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4069080"/>
            <a:ext cx="2651760" cy="859536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B8C4DD"/>
                </a:solidFill>
                <a:latin typeface="DejaVu Sans"/>
              </a:defRPr>
            </a:pPr>
            <a:r>
              <a:t>Apresentação e layout:</a:t>
            </a:r>
          </a:p>
          <a:p>
            <a:pPr>
              <a:spcAft>
                <a:spcPts val="700"/>
              </a:spcAft>
              <a:defRPr sz="1500" b="0">
                <a:solidFill>
                  <a:srgbClr val="B8C4DD"/>
                </a:solidFill>
                <a:latin typeface="DejaVu Sans"/>
              </a:defRPr>
            </a:pPr>
            <a:r>
              <a:t>cores, espaços e posições.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12480" y="2606040"/>
            <a:ext cx="3154680" cy="2560320"/>
          </a:xfrm>
          <a:prstGeom prst="roundRect">
            <a:avLst>
              <a:gd name="adj" fmla="val 15000"/>
            </a:avLst>
          </a:prstGeom>
          <a:solidFill>
            <a:srgbClr val="151E33"/>
          </a:solidFill>
          <a:ln>
            <a:solidFill>
              <a:srgbClr val="2A38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41080" y="2807208"/>
            <a:ext cx="2651760" cy="59436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3400" b="1">
                <a:solidFill>
                  <a:srgbClr val="FFAA88"/>
                </a:solidFill>
                <a:latin typeface="DejaVu Sans Mono"/>
              </a:defRPr>
            </a:pPr>
            <a:r>
              <a:t>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41080" y="3529584"/>
            <a:ext cx="2651760" cy="36576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2100" b="1">
                <a:solidFill>
                  <a:srgbClr val="F4F7FF"/>
                </a:solidFill>
                <a:latin typeface="DejaVu Sans"/>
              </a:defRPr>
            </a:pPr>
            <a:r>
              <a:t>PÁGINA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41080" y="4069080"/>
            <a:ext cx="2651760" cy="859536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B8C4DD"/>
                </a:solidFill>
                <a:latin typeface="DejaVu Sans"/>
              </a:defRPr>
            </a:pPr>
            <a:r>
              <a:t>O navegador interpreta</a:t>
            </a:r>
          </a:p>
          <a:p>
            <a:pPr>
              <a:spcAft>
                <a:spcPts val="700"/>
              </a:spcAft>
              <a:defRPr sz="1500" b="0">
                <a:solidFill>
                  <a:srgbClr val="B8C4DD"/>
                </a:solidFill>
                <a:latin typeface="DejaVu Sans"/>
              </a:defRPr>
            </a:pPr>
            <a:r>
              <a:t>os arquivos e renderiza a interface.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1920" y="3337560"/>
            <a:ext cx="548640" cy="5486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3000" b="1">
                <a:solidFill>
                  <a:srgbClr val="6CE5D2"/>
                </a:solidFill>
                <a:latin typeface="DejaVu Sans"/>
              </a:defRPr>
            </a:pPr>
            <a:r>
              <a:t>+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27264" y="3337560"/>
            <a:ext cx="548640" cy="5486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2800" b="0">
                <a:solidFill>
                  <a:srgbClr val="6CE5D2"/>
                </a:solidFill>
                <a:latin typeface="DejaVu Sans"/>
              </a:defRPr>
            </a:pPr>
            <a: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5669280"/>
            <a:ext cx="10607040" cy="36576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B8C4DD"/>
                </a:solidFill>
                <a:latin typeface="DejaVu Sans"/>
              </a:defRPr>
            </a:pPr>
            <a:r>
              <a:t>Essa base está presente em sites, lojas virtuais, cadastros e painéis de sistemas.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384048"/>
            <a:ext cx="54864" cy="201168"/>
          </a:xfrm>
          <a:prstGeom prst="rect">
            <a:avLst/>
          </a:prstGeom>
          <a:solidFill>
            <a:srgbClr val="6CE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329184"/>
            <a:ext cx="9144000" cy="256032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6CE5D2"/>
                </a:solidFill>
                <a:latin typeface="DejaVu Sans"/>
              </a:defRPr>
            </a:pPr>
            <a:r>
              <a:t>02 / ESTRUTURA 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59536"/>
            <a:ext cx="10972800" cy="9144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3100" b="1">
                <a:solidFill>
                  <a:srgbClr val="F4F7FF"/>
                </a:solidFill>
                <a:latin typeface="DejaVu Sans"/>
              </a:defRPr>
            </a:pPr>
            <a:r>
              <a:t>HTML: o esqueleto de uma página.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437376"/>
            <a:ext cx="11000232" cy="10972"/>
          </a:xfrm>
          <a:prstGeom prst="rect">
            <a:avLst/>
          </a:prstGeom>
          <a:solidFill>
            <a:srgbClr val="2A38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" y="6547104"/>
            <a:ext cx="8229600" cy="1828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B8C4DD"/>
                </a:solidFill>
                <a:latin typeface="DejaVu Sans"/>
              </a:defRPr>
            </a:pPr>
            <a:r>
              <a:t>DESENVOLVIMENTO DE SISTEMAS     /     TEMA 03     /     HTML + CSS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0232" y="6501384"/>
            <a:ext cx="548640" cy="2286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6CE5D2"/>
                </a:solidFill>
                <a:latin typeface="DejaVu Sans"/>
              </a:defRPr>
            </a:pPr>
            <a:r>
              <a:t>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965960"/>
            <a:ext cx="7132320" cy="4160520"/>
          </a:xfrm>
          <a:prstGeom prst="roundRect">
            <a:avLst>
              <a:gd name="adj" fmla="val 15000"/>
            </a:avLst>
          </a:prstGeom>
          <a:solidFill>
            <a:srgbClr val="151E33"/>
          </a:solidFill>
          <a:ln>
            <a:solidFill>
              <a:srgbClr val="2A38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959" y="2130552"/>
            <a:ext cx="77724" cy="77724"/>
          </a:xfrm>
          <a:prstGeom prst="roundRect">
            <a:avLst>
              <a:gd name="adj" fmla="val 15000"/>
            </a:avLst>
          </a:prstGeom>
          <a:solidFill>
            <a:srgbClr val="FFAA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87551" y="2130552"/>
            <a:ext cx="77724" cy="77724"/>
          </a:xfrm>
          <a:prstGeom prst="roundRect">
            <a:avLst>
              <a:gd name="adj" fmla="val 15000"/>
            </a:avLst>
          </a:prstGeom>
          <a:solidFill>
            <a:srgbClr val="F4D3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52143" y="2130552"/>
            <a:ext cx="77724" cy="77724"/>
          </a:xfrm>
          <a:prstGeom prst="roundRect">
            <a:avLst>
              <a:gd name="adj" fmla="val 15000"/>
            </a:avLst>
          </a:prstGeom>
          <a:solidFill>
            <a:srgbClr val="6CE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6464" y="2075688"/>
            <a:ext cx="6217920" cy="256032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B8C4DD"/>
                </a:solidFill>
                <a:latin typeface="DejaVu Sans Mono"/>
              </a:defRPr>
            </a:pPr>
            <a:r>
              <a:t>exemplo.html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6384" y="2423160"/>
            <a:ext cx="6839712" cy="10972"/>
          </a:xfrm>
          <a:prstGeom prst="rect">
            <a:avLst/>
          </a:prstGeom>
          <a:solidFill>
            <a:srgbClr val="2A38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59" y="2606039"/>
            <a:ext cx="347472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900" b="0">
                <a:solidFill>
                  <a:srgbClr val="667795"/>
                </a:solidFill>
                <a:latin typeface="DejaVu Sans Mono"/>
              </a:defRPr>
            </a:pPr>
            <a: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71016" y="2606039"/>
            <a:ext cx="6364224" cy="4114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6CE5D2"/>
                </a:solidFill>
                <a:latin typeface="DejaVu Sans Mono"/>
              </a:defRPr>
            </a:pPr>
            <a:r>
              <a:t>&lt;!doctype html&gt;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" y="2867152"/>
            <a:ext cx="347472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900" b="0">
                <a:solidFill>
                  <a:srgbClr val="667795"/>
                </a:solidFill>
                <a:latin typeface="DejaVu Sans Mono"/>
              </a:defRPr>
            </a:pPr>
            <a: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71016" y="2867152"/>
            <a:ext cx="6364224" cy="4114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6CE5D2"/>
                </a:solidFill>
                <a:latin typeface="DejaVu Sans Mono"/>
              </a:defRPr>
            </a:pPr>
            <a:r>
              <a:t>&lt;html lang="pt-BR"&gt;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59" y="3128263"/>
            <a:ext cx="347472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900" b="0">
                <a:solidFill>
                  <a:srgbClr val="667795"/>
                </a:solidFill>
                <a:latin typeface="DejaVu Sans Mono"/>
              </a:defRPr>
            </a:pPr>
            <a: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71016" y="3128263"/>
            <a:ext cx="6364224" cy="4114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6CE5D2"/>
                </a:solidFill>
                <a:latin typeface="DejaVu Sans Mono"/>
              </a:defRPr>
            </a:pPr>
            <a:r>
              <a:t>&lt;head&gt;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" y="3389375"/>
            <a:ext cx="347472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900" b="0">
                <a:solidFill>
                  <a:srgbClr val="667795"/>
                </a:solidFill>
                <a:latin typeface="DejaVu Sans Mono"/>
              </a:defRPr>
            </a:pPr>
            <a: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71016" y="3389375"/>
            <a:ext cx="6364224" cy="4114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6CE5D2"/>
                </a:solidFill>
                <a:latin typeface="DejaVu Sans Mono"/>
              </a:defRPr>
            </a:pPr>
            <a:r>
              <a:t>  &lt;meta charset="UTF-8"&gt;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59" y="3650487"/>
            <a:ext cx="347472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900" b="0">
                <a:solidFill>
                  <a:srgbClr val="667795"/>
                </a:solidFill>
                <a:latin typeface="DejaVu Sans Mono"/>
              </a:defRPr>
            </a:pPr>
            <a: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71016" y="3650487"/>
            <a:ext cx="6364224" cy="4114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6CE5D2"/>
                </a:solidFill>
                <a:latin typeface="DejaVu Sans Mono"/>
              </a:defRPr>
            </a:pPr>
            <a:r>
              <a:t>  &lt;meta name="viewport"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59" y="3911600"/>
            <a:ext cx="347472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900" b="0">
                <a:solidFill>
                  <a:srgbClr val="667795"/>
                </a:solidFill>
                <a:latin typeface="DejaVu Sans Mono"/>
              </a:defRPr>
            </a:pPr>
            <a: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71016" y="3911600"/>
            <a:ext cx="6364224" cy="4114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F4F7FF"/>
                </a:solidFill>
                <a:latin typeface="DejaVu Sans Mono"/>
              </a:defRPr>
            </a:pPr>
            <a:r>
              <a:t>        content="width=device-width, initial-scale=1"&gt;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59" y="4172711"/>
            <a:ext cx="347472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900" b="0">
                <a:solidFill>
                  <a:srgbClr val="667795"/>
                </a:solidFill>
                <a:latin typeface="DejaVu Sans Mono"/>
              </a:defRPr>
            </a:pPr>
            <a:r>
              <a:t>07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71016" y="4172711"/>
            <a:ext cx="6364224" cy="4114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6CE5D2"/>
                </a:solidFill>
                <a:latin typeface="DejaVu Sans Mono"/>
              </a:defRPr>
            </a:pPr>
            <a:r>
              <a:t>  &lt;title&gt;Minha página&lt;/title&gt;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59" y="4433823"/>
            <a:ext cx="347472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900" b="0">
                <a:solidFill>
                  <a:srgbClr val="667795"/>
                </a:solidFill>
                <a:latin typeface="DejaVu Sans Mono"/>
              </a:defRPr>
            </a:pPr>
            <a:r>
              <a:t>08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71016" y="4433823"/>
            <a:ext cx="6364224" cy="4114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6CE5D2"/>
                </a:solidFill>
                <a:latin typeface="DejaVu Sans Mono"/>
              </a:defRPr>
            </a:pPr>
            <a:r>
              <a:t>&lt;/head&gt;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59" y="4694936"/>
            <a:ext cx="347472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900" b="0">
                <a:solidFill>
                  <a:srgbClr val="667795"/>
                </a:solidFill>
                <a:latin typeface="DejaVu Sans Mono"/>
              </a:defRPr>
            </a:pPr>
            <a:r>
              <a:t>09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1016" y="4694936"/>
            <a:ext cx="6364224" cy="4114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6CE5D2"/>
                </a:solidFill>
                <a:latin typeface="DejaVu Sans Mono"/>
              </a:defRPr>
            </a:pPr>
            <a:r>
              <a:t>&lt;body&gt;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59" y="4956048"/>
            <a:ext cx="347472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900" b="0">
                <a:solidFill>
                  <a:srgbClr val="667795"/>
                </a:solidFill>
                <a:latin typeface="DejaVu Sans Mono"/>
              </a:defRPr>
            </a:pPr>
            <a:r>
              <a:t>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71016" y="4956048"/>
            <a:ext cx="6364224" cy="4114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6CE5D2"/>
                </a:solidFill>
                <a:latin typeface="DejaVu Sans Mono"/>
              </a:defRPr>
            </a:pPr>
            <a:r>
              <a:t>  &lt;h1&gt;Olá, web!&lt;/h1&gt;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59" y="5217160"/>
            <a:ext cx="347472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900" b="0">
                <a:solidFill>
                  <a:srgbClr val="667795"/>
                </a:solidFill>
                <a:latin typeface="DejaVu Sans Mono"/>
              </a:defRPr>
            </a:pPr>
            <a:r>
              <a:t>11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71016" y="5217160"/>
            <a:ext cx="6364224" cy="4114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6CE5D2"/>
                </a:solidFill>
                <a:latin typeface="DejaVu Sans Mono"/>
              </a:defRPr>
            </a:pPr>
            <a:r>
              <a:t>&lt;/body&gt;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59" y="5478272"/>
            <a:ext cx="347472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900" b="0">
                <a:solidFill>
                  <a:srgbClr val="667795"/>
                </a:solidFill>
                <a:latin typeface="DejaVu Sans Mono"/>
              </a:defRPr>
            </a:pPr>
            <a:r>
              <a:t>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71016" y="5478272"/>
            <a:ext cx="6364224" cy="4114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6CE5D2"/>
                </a:solidFill>
                <a:latin typeface="DejaVu Sans Mono"/>
              </a:defRPr>
            </a:pPr>
            <a:r>
              <a:t>&lt;/html&gt;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38160" y="2148840"/>
            <a:ext cx="548640" cy="36576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6CE5D2"/>
                </a:solidFill>
                <a:latin typeface="DejaVu Sans Mono"/>
              </a:defRPr>
            </a:pPr>
            <a:r>
              <a:t>01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723376" y="2148840"/>
            <a:ext cx="2706624" cy="36576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F4F7FF"/>
                </a:solidFill>
                <a:latin typeface="DejaVu Sans"/>
              </a:defRPr>
            </a:pPr>
            <a:r>
              <a:t>Documento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23376" y="2651760"/>
            <a:ext cx="2706624" cy="10058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B8C4DD"/>
                </a:solidFill>
                <a:latin typeface="DejaVu Sans"/>
              </a:defRPr>
            </a:pPr>
            <a:r>
              <a:t>doctype declara HTML moderno; lang indica o idioma.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38160" y="3538728"/>
            <a:ext cx="548640" cy="36576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8DAAFF"/>
                </a:solidFill>
                <a:latin typeface="DejaVu Sans Mono"/>
              </a:defRPr>
            </a:pPr>
            <a:r>
              <a:t>02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23376" y="3538728"/>
            <a:ext cx="2706624" cy="36576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F4F7FF"/>
                </a:solidFill>
                <a:latin typeface="DejaVu Sans"/>
              </a:defRPr>
            </a:pPr>
            <a:r>
              <a:t>Metadados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723376" y="4041648"/>
            <a:ext cx="2706624" cy="10058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B8C4DD"/>
                </a:solidFill>
                <a:latin typeface="DejaVu Sans"/>
              </a:defRPr>
            </a:pPr>
            <a:r>
              <a:t>head reúne título, codificação e configuração da viewport.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38160" y="4910328"/>
            <a:ext cx="548640" cy="36576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FFAA88"/>
                </a:solidFill>
                <a:latin typeface="DejaVu Sans Mono"/>
              </a:defRPr>
            </a:pPr>
            <a:r>
              <a:t>03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723376" y="4910328"/>
            <a:ext cx="2706624" cy="36576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F4F7FF"/>
                </a:solidFill>
                <a:latin typeface="DejaVu Sans"/>
              </a:defRPr>
            </a:pPr>
            <a:r>
              <a:t>Conteúdo visível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723376" y="5413248"/>
            <a:ext cx="2706624" cy="10058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B8C4DD"/>
                </a:solidFill>
                <a:latin typeface="DejaVu Sans"/>
              </a:defRPr>
            </a:pPr>
            <a:r>
              <a:t>body contém os elementos apresentados na página.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384048"/>
            <a:ext cx="54864" cy="201168"/>
          </a:xfrm>
          <a:prstGeom prst="rect">
            <a:avLst/>
          </a:prstGeom>
          <a:solidFill>
            <a:srgbClr val="6CE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329184"/>
            <a:ext cx="9144000" cy="256032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6CE5D2"/>
                </a:solidFill>
                <a:latin typeface="DejaVu Sans"/>
              </a:defRPr>
            </a:pPr>
            <a:r>
              <a:t>03 / PRINCIPAIS TAGS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59536"/>
            <a:ext cx="10972800" cy="9144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3100" b="1">
                <a:solidFill>
                  <a:srgbClr val="F4F7FF"/>
                </a:solidFill>
                <a:latin typeface="DejaVu Sans"/>
              </a:defRPr>
            </a:pPr>
            <a:r>
              <a:t>Tags: escolha pelo significado.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682496"/>
            <a:ext cx="10972800" cy="5029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B8C4DD"/>
                </a:solidFill>
                <a:latin typeface="DejaVu Sans"/>
              </a:defRPr>
            </a:pPr>
            <a:r>
              <a:t>Semântica descreve a função do conteúdo e ajuda pessoas, ferramentas e mecanismos de busca.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437376"/>
            <a:ext cx="11000232" cy="10972"/>
          </a:xfrm>
          <a:prstGeom prst="rect">
            <a:avLst/>
          </a:prstGeom>
          <a:solidFill>
            <a:srgbClr val="2A38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6547104"/>
            <a:ext cx="8229600" cy="1828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B8C4DD"/>
                </a:solidFill>
                <a:latin typeface="DejaVu Sans"/>
              </a:defRPr>
            </a:pPr>
            <a:r>
              <a:t>DESENVOLVIMENTO DE SISTEMAS     /     TEMA 03     /     HTML + CSS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0232" y="6501384"/>
            <a:ext cx="548640" cy="2286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6CE5D2"/>
                </a:solidFill>
                <a:latin typeface="DejaVu Sans"/>
              </a:defRPr>
            </a:pPr>
            <a:r>
              <a:t>04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423160"/>
            <a:ext cx="4572000" cy="3611880"/>
          </a:xfrm>
          <a:prstGeom prst="roundRect">
            <a:avLst>
              <a:gd name="adj" fmla="val 15000"/>
            </a:avLst>
          </a:prstGeom>
          <a:solidFill>
            <a:srgbClr val="151E33"/>
          </a:solidFill>
          <a:ln>
            <a:solidFill>
              <a:srgbClr val="2A38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14400" y="2697480"/>
            <a:ext cx="4023360" cy="502920"/>
          </a:xfrm>
          <a:prstGeom prst="roundRect">
            <a:avLst>
              <a:gd name="adj" fmla="val 15000"/>
            </a:avLst>
          </a:prstGeom>
          <a:solidFill>
            <a:srgbClr val="0B1020"/>
          </a:solidFill>
          <a:ln>
            <a:solidFill>
              <a:srgbClr val="8DA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788920"/>
            <a:ext cx="3749040" cy="36576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8DAAFF"/>
                </a:solidFill>
                <a:latin typeface="DejaVu Sans Mono"/>
              </a:defRPr>
            </a:pPr>
            <a:r>
              <a:t>&lt;header&gt; + &lt;nav&gt;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383280"/>
            <a:ext cx="4023360" cy="1737360"/>
          </a:xfrm>
          <a:prstGeom prst="roundRect">
            <a:avLst>
              <a:gd name="adj" fmla="val 15000"/>
            </a:avLst>
          </a:prstGeom>
          <a:solidFill>
            <a:srgbClr val="0B1020"/>
          </a:solidFill>
          <a:ln>
            <a:solidFill>
              <a:srgbClr val="6CE5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474720"/>
            <a:ext cx="3749040" cy="36576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6CE5D2"/>
                </a:solidFill>
                <a:latin typeface="DejaVu Sans Mono"/>
              </a:defRPr>
            </a:pPr>
            <a:r>
              <a:t>&lt;main&gt;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977639"/>
            <a:ext cx="1737360" cy="777240"/>
          </a:xfrm>
          <a:prstGeom prst="roundRect">
            <a:avLst>
              <a:gd name="adj" fmla="val 15000"/>
            </a:avLst>
          </a:prstGeom>
          <a:solidFill>
            <a:srgbClr val="0B1020"/>
          </a:solidFill>
          <a:ln>
            <a:solidFill>
              <a:srgbClr val="FFAA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80160" y="4069079"/>
            <a:ext cx="1463039" cy="36576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FFAA88"/>
                </a:solidFill>
                <a:latin typeface="DejaVu Sans Mono"/>
              </a:defRPr>
            </a:pPr>
            <a:r>
              <a:t>&lt;section&gt;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108960" y="3977639"/>
            <a:ext cx="1600200" cy="777240"/>
          </a:xfrm>
          <a:prstGeom prst="roundRect">
            <a:avLst>
              <a:gd name="adj" fmla="val 15000"/>
            </a:avLst>
          </a:prstGeom>
          <a:solidFill>
            <a:srgbClr val="0B1020"/>
          </a:solidFill>
          <a:ln>
            <a:solidFill>
              <a:srgbClr val="FFAA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46120" y="4069079"/>
            <a:ext cx="1325880" cy="36576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FFAA88"/>
                </a:solidFill>
                <a:latin typeface="DejaVu Sans Mono"/>
              </a:defRPr>
            </a:pPr>
            <a:r>
              <a:t>&lt;article&gt;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5303520"/>
            <a:ext cx="4023360" cy="457200"/>
          </a:xfrm>
          <a:prstGeom prst="roundRect">
            <a:avLst>
              <a:gd name="adj" fmla="val 15000"/>
            </a:avLst>
          </a:prstGeom>
          <a:solidFill>
            <a:srgbClr val="0B1020"/>
          </a:solidFill>
          <a:ln>
            <a:solidFill>
              <a:srgbClr val="8DA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394959"/>
            <a:ext cx="3749040" cy="36576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8DAAFF"/>
                </a:solidFill>
                <a:latin typeface="DejaVu Sans Mono"/>
              </a:defRPr>
            </a:pPr>
            <a:r>
              <a:t>&lt;footer&gt;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23560" y="2514600"/>
            <a:ext cx="5715000" cy="3200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6CE5D2"/>
                </a:solidFill>
                <a:latin typeface="DejaVu Sans Mono"/>
              </a:defRPr>
            </a:pPr>
            <a:r>
              <a:t>h1 … h6 / 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23560" y="2871216"/>
            <a:ext cx="5715000" cy="4114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600" b="0">
                <a:solidFill>
                  <a:srgbClr val="B8C4DD"/>
                </a:solidFill>
                <a:latin typeface="DejaVu Sans"/>
              </a:defRPr>
            </a:pPr>
            <a:r>
              <a:t>Títulos em hierarquia e parágrafos.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23560" y="3246120"/>
            <a:ext cx="5715000" cy="3200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6CE5D2"/>
                </a:solidFill>
                <a:latin typeface="DejaVu Sans Mono"/>
              </a:defRPr>
            </a:pPr>
            <a:r>
              <a:t>a / img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23560" y="3602736"/>
            <a:ext cx="5715000" cy="4114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600" b="0">
                <a:solidFill>
                  <a:srgbClr val="B8C4DD"/>
                </a:solidFill>
                <a:latin typeface="DejaVu Sans"/>
              </a:defRPr>
            </a:pPr>
            <a:r>
              <a:t>Links com href; imagens com src e alt.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3977639"/>
            <a:ext cx="5715000" cy="3200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6CE5D2"/>
                </a:solidFill>
                <a:latin typeface="DejaVu Sans Mono"/>
              </a:defRPr>
            </a:pPr>
            <a:r>
              <a:t>ul / ol / li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23560" y="4334255"/>
            <a:ext cx="5715000" cy="4114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600" b="0">
                <a:solidFill>
                  <a:srgbClr val="B8C4DD"/>
                </a:solidFill>
                <a:latin typeface="DejaVu Sans"/>
              </a:defRPr>
            </a:pPr>
            <a:r>
              <a:t>Listas sem ordem ou numeradas.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23560" y="4709160"/>
            <a:ext cx="5715000" cy="3200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6CE5D2"/>
                </a:solidFill>
                <a:latin typeface="DejaVu Sans Mono"/>
              </a:defRPr>
            </a:pPr>
            <a:r>
              <a:t>div / span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23560" y="5065776"/>
            <a:ext cx="5715000" cy="4114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600" b="0">
                <a:solidFill>
                  <a:srgbClr val="B8C4DD"/>
                </a:solidFill>
                <a:latin typeface="DejaVu Sans"/>
              </a:defRPr>
            </a:pPr>
            <a:r>
              <a:t>Agrupamentos sem significado específico.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23560" y="5605272"/>
            <a:ext cx="5623560" cy="4114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FFAA88"/>
                </a:solidFill>
                <a:latin typeface="DejaVu Sans"/>
              </a:defRPr>
            </a:pPr>
            <a:r>
              <a:t>Use tags semânticas quando houver uma função clara.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384048"/>
            <a:ext cx="54864" cy="201168"/>
          </a:xfrm>
          <a:prstGeom prst="rect">
            <a:avLst/>
          </a:prstGeom>
          <a:solidFill>
            <a:srgbClr val="6CE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329184"/>
            <a:ext cx="9144000" cy="256032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6CE5D2"/>
                </a:solidFill>
                <a:latin typeface="DejaVu Sans"/>
              </a:defRPr>
            </a:pPr>
            <a:r>
              <a:t>04 / FORMULÁRIOS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59536"/>
            <a:ext cx="10972800" cy="9144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3100" b="1">
                <a:solidFill>
                  <a:srgbClr val="F4F7FF"/>
                </a:solidFill>
                <a:latin typeface="DejaVu Sans"/>
              </a:defRPr>
            </a:pPr>
            <a:r>
              <a:t>Formulários: transforme campos em dados.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437376"/>
            <a:ext cx="11000232" cy="10972"/>
          </a:xfrm>
          <a:prstGeom prst="rect">
            <a:avLst/>
          </a:prstGeom>
          <a:solidFill>
            <a:srgbClr val="2A38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" y="6547104"/>
            <a:ext cx="8229600" cy="1828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B8C4DD"/>
                </a:solidFill>
                <a:latin typeface="DejaVu Sans"/>
              </a:defRPr>
            </a:pPr>
            <a:r>
              <a:t>DESENVOLVIMENTO DE SISTEMAS     /     TEMA 03     /     HTML + CSS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0232" y="6501384"/>
            <a:ext cx="548640" cy="2286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6CE5D2"/>
                </a:solidFill>
                <a:latin typeface="DejaVu Sans"/>
              </a:defRPr>
            </a:pPr>
            <a:r>
              <a:t>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965960"/>
            <a:ext cx="6995160" cy="4206240"/>
          </a:xfrm>
          <a:prstGeom prst="roundRect">
            <a:avLst>
              <a:gd name="adj" fmla="val 15000"/>
            </a:avLst>
          </a:prstGeom>
          <a:solidFill>
            <a:srgbClr val="151E33"/>
          </a:solidFill>
          <a:ln>
            <a:solidFill>
              <a:srgbClr val="2A38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959" y="2130552"/>
            <a:ext cx="77724" cy="77724"/>
          </a:xfrm>
          <a:prstGeom prst="roundRect">
            <a:avLst>
              <a:gd name="adj" fmla="val 15000"/>
            </a:avLst>
          </a:prstGeom>
          <a:solidFill>
            <a:srgbClr val="FFAA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87551" y="2130552"/>
            <a:ext cx="77724" cy="77724"/>
          </a:xfrm>
          <a:prstGeom prst="roundRect">
            <a:avLst>
              <a:gd name="adj" fmla="val 15000"/>
            </a:avLst>
          </a:prstGeom>
          <a:solidFill>
            <a:srgbClr val="F4D3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52143" y="2130552"/>
            <a:ext cx="77724" cy="77724"/>
          </a:xfrm>
          <a:prstGeom prst="roundRect">
            <a:avLst>
              <a:gd name="adj" fmla="val 15000"/>
            </a:avLst>
          </a:prstGeom>
          <a:solidFill>
            <a:srgbClr val="6CE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6464" y="2075688"/>
            <a:ext cx="6080760" cy="256032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B8C4DD"/>
                </a:solidFill>
                <a:latin typeface="DejaVu Sans Mono"/>
              </a:defRPr>
            </a:pPr>
            <a:r>
              <a:t>exemplo.html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6384" y="2423160"/>
            <a:ext cx="6702552" cy="10972"/>
          </a:xfrm>
          <a:prstGeom prst="rect">
            <a:avLst/>
          </a:prstGeom>
          <a:solidFill>
            <a:srgbClr val="2A38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59" y="2606039"/>
            <a:ext cx="347472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67795"/>
                </a:solidFill>
                <a:latin typeface="DejaVu Sans Mono"/>
              </a:defRPr>
            </a:pPr>
            <a: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71016" y="2606039"/>
            <a:ext cx="6227064" cy="4114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6CE5D2"/>
                </a:solidFill>
                <a:latin typeface="DejaVu Sans Mono"/>
              </a:defRPr>
            </a:pPr>
            <a:r>
              <a:t>&lt;form action="/cadastro" method="post"&gt;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" y="2879852"/>
            <a:ext cx="347472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67795"/>
                </a:solidFill>
                <a:latin typeface="DejaVu Sans Mono"/>
              </a:defRPr>
            </a:pPr>
            <a: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71016" y="2879852"/>
            <a:ext cx="6227064" cy="4114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6CE5D2"/>
                </a:solidFill>
                <a:latin typeface="DejaVu Sans Mono"/>
              </a:defRPr>
            </a:pPr>
            <a:r>
              <a:t>  &lt;label for="email"&gt;E-mail&lt;/label&gt;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59" y="3153663"/>
            <a:ext cx="347472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67795"/>
                </a:solidFill>
                <a:latin typeface="DejaVu Sans Mono"/>
              </a:defRPr>
            </a:pPr>
            <a: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71016" y="3153663"/>
            <a:ext cx="6227064" cy="4114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6CE5D2"/>
                </a:solidFill>
                <a:latin typeface="DejaVu Sans Mono"/>
              </a:defRPr>
            </a:pPr>
            <a:r>
              <a:t>  &lt;input id="email" name="email"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" y="3427475"/>
            <a:ext cx="347472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67795"/>
                </a:solidFill>
                <a:latin typeface="DejaVu Sans Mono"/>
              </a:defRPr>
            </a:pPr>
            <a: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71016" y="3427475"/>
            <a:ext cx="6227064" cy="4114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F4F7FF"/>
                </a:solidFill>
                <a:latin typeface="DejaVu Sans Mono"/>
              </a:defRPr>
            </a:pPr>
            <a:r>
              <a:t>         type="email" required&gt;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59" y="3701287"/>
            <a:ext cx="347472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67795"/>
                </a:solidFill>
                <a:latin typeface="DejaVu Sans Mono"/>
              </a:defRPr>
            </a:pPr>
            <a: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71016" y="3701287"/>
            <a:ext cx="6227064" cy="4114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F4F7FF"/>
                </a:solidFill>
                <a:latin typeface="DejaVu Sans Mon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822959" y="3975099"/>
            <a:ext cx="347472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67795"/>
                </a:solidFill>
                <a:latin typeface="DejaVu Sans Mono"/>
              </a:defRPr>
            </a:pPr>
            <a: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71016" y="3975099"/>
            <a:ext cx="6227064" cy="4114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6CE5D2"/>
                </a:solidFill>
                <a:latin typeface="DejaVu Sans Mono"/>
              </a:defRPr>
            </a:pPr>
            <a:r>
              <a:t>  &lt;label for="curso"&gt;Curso&lt;/label&gt;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59" y="4248912"/>
            <a:ext cx="347472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67795"/>
                </a:solidFill>
                <a:latin typeface="DejaVu Sans Mono"/>
              </a:defRPr>
            </a:pPr>
            <a:r>
              <a:t>07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71016" y="4248912"/>
            <a:ext cx="6227064" cy="4114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6CE5D2"/>
                </a:solidFill>
                <a:latin typeface="DejaVu Sans Mono"/>
              </a:defRPr>
            </a:pPr>
            <a:r>
              <a:t>  &lt;select id="curso" name="curso"&gt;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59" y="4522724"/>
            <a:ext cx="347472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67795"/>
                </a:solidFill>
                <a:latin typeface="DejaVu Sans Mono"/>
              </a:defRPr>
            </a:pPr>
            <a:r>
              <a:t>08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71016" y="4522724"/>
            <a:ext cx="6227064" cy="4114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6CE5D2"/>
                </a:solidFill>
                <a:latin typeface="DejaVu Sans Mono"/>
              </a:defRPr>
            </a:pPr>
            <a:r>
              <a:t>    &lt;option&gt;HTML e CSS&lt;/option&gt;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59" y="4796535"/>
            <a:ext cx="347472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67795"/>
                </a:solidFill>
                <a:latin typeface="DejaVu Sans Mono"/>
              </a:defRPr>
            </a:pPr>
            <a:r>
              <a:t>09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1016" y="4796535"/>
            <a:ext cx="6227064" cy="4114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6CE5D2"/>
                </a:solidFill>
                <a:latin typeface="DejaVu Sans Mono"/>
              </a:defRPr>
            </a:pPr>
            <a:r>
              <a:t>  &lt;/select&gt;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59" y="5070348"/>
            <a:ext cx="347472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67795"/>
                </a:solidFill>
                <a:latin typeface="DejaVu Sans Mono"/>
              </a:defRPr>
            </a:pPr>
            <a:r>
              <a:t>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71016" y="5070348"/>
            <a:ext cx="6227064" cy="4114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F4F7FF"/>
                </a:solidFill>
                <a:latin typeface="DejaVu Sans Mono"/>
              </a:defRPr>
            </a:pPr>
          </a:p>
        </p:txBody>
      </p:sp>
      <p:sp>
        <p:nvSpPr>
          <p:cNvPr id="34" name="TextBox 33"/>
          <p:cNvSpPr txBox="1"/>
          <p:nvPr/>
        </p:nvSpPr>
        <p:spPr>
          <a:xfrm>
            <a:off x="822959" y="5344160"/>
            <a:ext cx="347472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67795"/>
                </a:solidFill>
                <a:latin typeface="DejaVu Sans Mono"/>
              </a:defRPr>
            </a:pPr>
            <a:r>
              <a:t>11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71016" y="5344160"/>
            <a:ext cx="6227064" cy="4114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6CE5D2"/>
                </a:solidFill>
                <a:latin typeface="DejaVu Sans Mono"/>
              </a:defRPr>
            </a:pPr>
            <a:r>
              <a:t>  &lt;button type="submit"&gt;Enviar&lt;/button&gt;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59" y="5617971"/>
            <a:ext cx="347472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67795"/>
                </a:solidFill>
                <a:latin typeface="DejaVu Sans Mono"/>
              </a:defRPr>
            </a:pPr>
            <a:r>
              <a:t>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71016" y="5617971"/>
            <a:ext cx="6227064" cy="4114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6CE5D2"/>
                </a:solidFill>
                <a:latin typeface="DejaVu Sans Mono"/>
              </a:defRPr>
            </a:pPr>
            <a:r>
              <a:t>&lt;/form&gt;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01000" y="2148840"/>
            <a:ext cx="548640" cy="36576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6CE5D2"/>
                </a:solidFill>
                <a:latin typeface="DejaVu Sans Mono"/>
              </a:defRPr>
            </a:pPr>
            <a:r>
              <a:t>01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86216" y="2148840"/>
            <a:ext cx="2889503" cy="36576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F4F7FF"/>
                </a:solidFill>
                <a:latin typeface="DejaVu Sans"/>
              </a:defRPr>
            </a:pPr>
            <a:r>
              <a:t>Identificação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86216" y="2651760"/>
            <a:ext cx="2889503" cy="10058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B8C4DD"/>
                </a:solidFill>
                <a:latin typeface="DejaVu Sans"/>
              </a:defRPr>
            </a:pPr>
            <a:r>
              <a:t>for conecta o rótulo ao id. name identifica o dado enviado.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01000" y="3520440"/>
            <a:ext cx="548640" cy="36576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8DAAFF"/>
                </a:solidFill>
                <a:latin typeface="DejaVu Sans Mono"/>
              </a:defRPr>
            </a:pPr>
            <a:r>
              <a:t>02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86216" y="3520440"/>
            <a:ext cx="2889503" cy="36576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F4F7FF"/>
                </a:solidFill>
                <a:latin typeface="DejaVu Sans"/>
              </a:defRPr>
            </a:pPr>
            <a:r>
              <a:t>Validação nativa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86216" y="4023360"/>
            <a:ext cx="2889503" cy="10058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B8C4DD"/>
                </a:solidFill>
                <a:latin typeface="DejaVu Sans"/>
              </a:defRPr>
            </a:pPr>
            <a:r>
              <a:t>type="email" e required ajudam o navegador a validar.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01000" y="4892040"/>
            <a:ext cx="548640" cy="36576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FFAA88"/>
                </a:solidFill>
                <a:latin typeface="DejaVu Sans Mono"/>
              </a:defRPr>
            </a:pPr>
            <a:r>
              <a:t>03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86216" y="4892040"/>
            <a:ext cx="2889503" cy="36576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F4F7FF"/>
                </a:solidFill>
                <a:latin typeface="DejaVu Sans"/>
              </a:defRPr>
            </a:pPr>
            <a:r>
              <a:t>Envio e servidor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586216" y="5394959"/>
            <a:ext cx="2889503" cy="10058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B8C4DD"/>
                </a:solidFill>
                <a:latin typeface="DejaVu Sans"/>
              </a:defRPr>
            </a:pPr>
            <a:r>
              <a:t>action aponta o destino. O servidor deve validar e salvar.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384048"/>
            <a:ext cx="54864" cy="201168"/>
          </a:xfrm>
          <a:prstGeom prst="rect">
            <a:avLst/>
          </a:prstGeom>
          <a:solidFill>
            <a:srgbClr val="6CE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329184"/>
            <a:ext cx="9144000" cy="256032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6CE5D2"/>
                </a:solidFill>
                <a:latin typeface="DejaVu Sans"/>
              </a:defRPr>
            </a:pPr>
            <a:r>
              <a:t>05 / REGRAS 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59536"/>
            <a:ext cx="10972800" cy="9144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3100" b="1">
                <a:solidFill>
                  <a:srgbClr val="F4F7FF"/>
                </a:solidFill>
                <a:latin typeface="DejaVu Sans"/>
              </a:defRPr>
            </a:pPr>
            <a:r>
              <a:t>CSS: selecione, declare e transforme.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437376"/>
            <a:ext cx="11000232" cy="10972"/>
          </a:xfrm>
          <a:prstGeom prst="rect">
            <a:avLst/>
          </a:prstGeom>
          <a:solidFill>
            <a:srgbClr val="2A38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" y="6547104"/>
            <a:ext cx="8229600" cy="1828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B8C4DD"/>
                </a:solidFill>
                <a:latin typeface="DejaVu Sans"/>
              </a:defRPr>
            </a:pPr>
            <a:r>
              <a:t>DESENVOLVIMENTO DE SISTEMAS     /     TEMA 03     /     HTML + CSS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0232" y="6501384"/>
            <a:ext cx="548640" cy="2286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6CE5D2"/>
                </a:solidFill>
                <a:latin typeface="DejaVu Sans"/>
              </a:defRPr>
            </a:pPr>
            <a:r>
              <a:t>06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31720"/>
            <a:ext cx="5349240" cy="3200400"/>
          </a:xfrm>
          <a:prstGeom prst="roundRect">
            <a:avLst>
              <a:gd name="adj" fmla="val 15000"/>
            </a:avLst>
          </a:prstGeom>
          <a:solidFill>
            <a:srgbClr val="151E33"/>
          </a:solidFill>
          <a:ln>
            <a:solidFill>
              <a:srgbClr val="2A38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959" y="2496312"/>
            <a:ext cx="77724" cy="77724"/>
          </a:xfrm>
          <a:prstGeom prst="roundRect">
            <a:avLst>
              <a:gd name="adj" fmla="val 15000"/>
            </a:avLst>
          </a:prstGeom>
          <a:solidFill>
            <a:srgbClr val="FFAA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87551" y="2496312"/>
            <a:ext cx="77724" cy="77724"/>
          </a:xfrm>
          <a:prstGeom prst="roundRect">
            <a:avLst>
              <a:gd name="adj" fmla="val 15000"/>
            </a:avLst>
          </a:prstGeom>
          <a:solidFill>
            <a:srgbClr val="F4D3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52143" y="2496312"/>
            <a:ext cx="77724" cy="77724"/>
          </a:xfrm>
          <a:prstGeom prst="roundRect">
            <a:avLst>
              <a:gd name="adj" fmla="val 15000"/>
            </a:avLst>
          </a:prstGeom>
          <a:solidFill>
            <a:srgbClr val="6CE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6464" y="2441448"/>
            <a:ext cx="4434840" cy="256032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B8C4DD"/>
                </a:solidFill>
                <a:latin typeface="DejaVu Sans Mono"/>
              </a:defRPr>
            </a:pPr>
            <a:r>
              <a:t>style.css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6384" y="2788920"/>
            <a:ext cx="5056631" cy="10972"/>
          </a:xfrm>
          <a:prstGeom prst="rect">
            <a:avLst/>
          </a:prstGeom>
          <a:solidFill>
            <a:srgbClr val="2A38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59" y="2971800"/>
            <a:ext cx="347472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600" b="0">
                <a:solidFill>
                  <a:srgbClr val="667795"/>
                </a:solidFill>
                <a:latin typeface="DejaVu Sans Mono"/>
              </a:defRPr>
            </a:pPr>
            <a: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71016" y="2971800"/>
            <a:ext cx="4581144" cy="4114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2000" b="0">
                <a:solidFill>
                  <a:srgbClr val="F4F7FF"/>
                </a:solidFill>
                <a:latin typeface="DejaVu Sans Mono"/>
              </a:defRPr>
            </a:pPr>
            <a:r>
              <a:t>.card {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" y="3321812"/>
            <a:ext cx="347472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600" b="0">
                <a:solidFill>
                  <a:srgbClr val="667795"/>
                </a:solidFill>
                <a:latin typeface="DejaVu Sans Mono"/>
              </a:defRPr>
            </a:pPr>
            <a: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71016" y="3321812"/>
            <a:ext cx="4581144" cy="4114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2000" b="0">
                <a:solidFill>
                  <a:srgbClr val="FFAA88"/>
                </a:solidFill>
                <a:latin typeface="DejaVu Sans Mono"/>
              </a:defRPr>
            </a:pPr>
            <a:r>
              <a:t>  background: #151e33;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59" y="3671824"/>
            <a:ext cx="347472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600" b="0">
                <a:solidFill>
                  <a:srgbClr val="667795"/>
                </a:solidFill>
                <a:latin typeface="DejaVu Sans Mono"/>
              </a:defRPr>
            </a:pPr>
            <a: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71016" y="3671824"/>
            <a:ext cx="4581144" cy="4114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2000" b="0">
                <a:solidFill>
                  <a:srgbClr val="FFAA88"/>
                </a:solidFill>
                <a:latin typeface="DejaVu Sans Mono"/>
              </a:defRPr>
            </a:pPr>
            <a:r>
              <a:t>  color: #f4f7ff;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" y="4021836"/>
            <a:ext cx="347472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600" b="0">
                <a:solidFill>
                  <a:srgbClr val="667795"/>
                </a:solidFill>
                <a:latin typeface="DejaVu Sans Mono"/>
              </a:defRPr>
            </a:pPr>
            <a: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71016" y="4021836"/>
            <a:ext cx="4581144" cy="4114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2000" b="0">
                <a:solidFill>
                  <a:srgbClr val="FFAA88"/>
                </a:solidFill>
                <a:latin typeface="DejaVu Sans Mono"/>
              </a:defRPr>
            </a:pPr>
            <a:r>
              <a:t>  padding: 24px;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59" y="4371848"/>
            <a:ext cx="347472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600" b="0">
                <a:solidFill>
                  <a:srgbClr val="667795"/>
                </a:solidFill>
                <a:latin typeface="DejaVu Sans Mono"/>
              </a:defRPr>
            </a:pPr>
            <a: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71016" y="4371848"/>
            <a:ext cx="4581144" cy="4114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2000" b="0">
                <a:solidFill>
                  <a:srgbClr val="FFAA88"/>
                </a:solidFill>
                <a:latin typeface="DejaVu Sans Mono"/>
              </a:defRPr>
            </a:pPr>
            <a:r>
              <a:t>  border-radius: 18px;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59" y="4721860"/>
            <a:ext cx="347472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600" b="0">
                <a:solidFill>
                  <a:srgbClr val="667795"/>
                </a:solidFill>
                <a:latin typeface="DejaVu Sans Mono"/>
              </a:defRPr>
            </a:pPr>
            <a: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71016" y="4721860"/>
            <a:ext cx="4581144" cy="4114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2000" b="0">
                <a:solidFill>
                  <a:srgbClr val="F4F7FF"/>
                </a:solidFill>
                <a:latin typeface="DejaVu Sans Mono"/>
              </a:defRPr>
            </a:pPr>
            <a:r>
              <a:t>}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37960" y="2331720"/>
            <a:ext cx="4983480" cy="3200400"/>
          </a:xfrm>
          <a:prstGeom prst="roundRect">
            <a:avLst>
              <a:gd name="adj" fmla="val 15000"/>
            </a:avLst>
          </a:prstGeom>
          <a:solidFill>
            <a:srgbClr val="F1F5FC"/>
          </a:solidFill>
          <a:ln>
            <a:solidFill>
              <a:srgbClr val="2A38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995160" y="2880360"/>
            <a:ext cx="4069080" cy="2057400"/>
          </a:xfrm>
          <a:prstGeom prst="roundRect">
            <a:avLst>
              <a:gd name="adj" fmla="val 15000"/>
            </a:avLst>
          </a:prstGeom>
          <a:solidFill>
            <a:srgbClr val="15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0" y="3200400"/>
            <a:ext cx="3383280" cy="4572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2300" b="1">
                <a:solidFill>
                  <a:srgbClr val="F4F7FF"/>
                </a:solidFill>
                <a:latin typeface="DejaVu Sans"/>
              </a:defRPr>
            </a:pPr>
            <a:r>
              <a:t>Um card com estilo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0" y="3840480"/>
            <a:ext cx="3383280" cy="7315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B8C4DD"/>
                </a:solidFill>
                <a:latin typeface="DejaVu Sans"/>
              </a:defRPr>
            </a:pPr>
            <a:r>
              <a:t>Cor, espaçamento e cantos</a:t>
            </a:r>
          </a:p>
          <a:p>
            <a:pPr>
              <a:spcAft>
                <a:spcPts val="700"/>
              </a:spcAft>
              <a:defRPr sz="1700" b="0">
                <a:solidFill>
                  <a:srgbClr val="B8C4DD"/>
                </a:solidFill>
                <a:latin typeface="DejaVu Sans"/>
              </a:defRPr>
            </a:pPr>
            <a:r>
              <a:t>definidos pela mesma regra.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5742432"/>
            <a:ext cx="10607040" cy="3200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6CE5D2"/>
                </a:solidFill>
                <a:latin typeface="DejaVu Sans Mono"/>
              </a:defRPr>
            </a:pPr>
            <a:r>
              <a:t>No HTML: &lt;link rel="stylesheet" href="style.css"&gt;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384048"/>
            <a:ext cx="54864" cy="201168"/>
          </a:xfrm>
          <a:prstGeom prst="rect">
            <a:avLst/>
          </a:prstGeom>
          <a:solidFill>
            <a:srgbClr val="6CE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329184"/>
            <a:ext cx="9144000" cy="256032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6CE5D2"/>
                </a:solidFill>
                <a:latin typeface="DejaVu Sans"/>
              </a:defRPr>
            </a:pPr>
            <a:r>
              <a:t>06 / CLASSES, IDs E ESTADOS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59536"/>
            <a:ext cx="10972800" cy="9144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3100" b="1">
                <a:solidFill>
                  <a:srgbClr val="F4F7FF"/>
                </a:solidFill>
                <a:latin typeface="DejaVu Sans"/>
              </a:defRPr>
            </a:pPr>
            <a:r>
              <a:t>Seletores: quem recebe o estilo?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682496"/>
            <a:ext cx="10972800" cy="5029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B8C4DD"/>
                </a:solidFill>
                <a:latin typeface="DejaVu Sans"/>
              </a:defRPr>
            </a:pPr>
            <a:r>
              <a:t>Classes podem se repetir. O valor de um id deve ser único no documento.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437376"/>
            <a:ext cx="11000232" cy="10972"/>
          </a:xfrm>
          <a:prstGeom prst="rect">
            <a:avLst/>
          </a:prstGeom>
          <a:solidFill>
            <a:srgbClr val="2A38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6547104"/>
            <a:ext cx="8229600" cy="1828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B8C4DD"/>
                </a:solidFill>
                <a:latin typeface="DejaVu Sans"/>
              </a:defRPr>
            </a:pPr>
            <a:r>
              <a:t>DESENVOLVIMENTO DE SISTEMAS     /     TEMA 03     /     HTML + CSS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0232" y="6501384"/>
            <a:ext cx="548640" cy="2286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6CE5D2"/>
                </a:solidFill>
                <a:latin typeface="DejaVu Sans"/>
              </a:defRPr>
            </a:pPr>
            <a: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386584"/>
            <a:ext cx="2468880" cy="3200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6CE5D2"/>
                </a:solidFill>
                <a:latin typeface="DejaVu Sans"/>
              </a:defRPr>
            </a:pPr>
            <a:r>
              <a:t>SELETOR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9039" y="2386584"/>
            <a:ext cx="3337560" cy="3200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6CE5D2"/>
                </a:solidFill>
                <a:latin typeface="DejaVu Sans"/>
              </a:defRPr>
            </a:pPr>
            <a:r>
              <a:t>EXEMPLO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52360" y="2386584"/>
            <a:ext cx="3657600" cy="3200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6CE5D2"/>
                </a:solidFill>
                <a:latin typeface="DejaVu Sans"/>
              </a:defRPr>
            </a:pPr>
            <a:r>
              <a:t>O QUE SELECIONA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2834640"/>
            <a:ext cx="10835640" cy="512064"/>
          </a:xfrm>
          <a:prstGeom prst="rect">
            <a:avLst/>
          </a:prstGeom>
          <a:solidFill>
            <a:srgbClr val="15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926080"/>
            <a:ext cx="2468880" cy="3200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F4F7FF"/>
                </a:solidFill>
                <a:latin typeface="DejaVu Sans"/>
              </a:defRPr>
            </a:pPr>
            <a:r>
              <a:t>Tipo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39" y="2926080"/>
            <a:ext cx="3566160" cy="3200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8DAAFF"/>
                </a:solidFill>
                <a:latin typeface="DejaVu Sans Mono"/>
              </a:defRPr>
            </a:pPr>
            <a:r>
              <a:t>p { … }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52360" y="2926080"/>
            <a:ext cx="3794760" cy="3200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B8C4DD"/>
                </a:solidFill>
                <a:latin typeface="DejaVu Sans"/>
              </a:defRPr>
            </a:pPr>
            <a:r>
              <a:t>Todos os parágrafos.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3401568"/>
            <a:ext cx="10835640" cy="512064"/>
          </a:xfrm>
          <a:prstGeom prst="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493008"/>
            <a:ext cx="2468880" cy="3200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F4F7FF"/>
                </a:solidFill>
                <a:latin typeface="DejaVu Sans"/>
              </a:defRPr>
            </a:pPr>
            <a:r>
              <a:t>Classe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3493008"/>
            <a:ext cx="3566160" cy="3200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8DAAFF"/>
                </a:solidFill>
                <a:latin typeface="DejaVu Sans Mono"/>
              </a:defRPr>
            </a:pPr>
            <a:r>
              <a:t>.card { … }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52360" y="3493008"/>
            <a:ext cx="3794760" cy="3200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B8C4DD"/>
                </a:solidFill>
                <a:latin typeface="DejaVu Sans"/>
              </a:defRPr>
            </a:pPr>
            <a:r>
              <a:t>Elementos com class="card".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3968496"/>
            <a:ext cx="10835640" cy="512064"/>
          </a:xfrm>
          <a:prstGeom prst="rect">
            <a:avLst/>
          </a:prstGeom>
          <a:solidFill>
            <a:srgbClr val="15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4059935"/>
            <a:ext cx="2468880" cy="3200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F4F7FF"/>
                </a:solidFill>
                <a:latin typeface="DejaVu Sans"/>
              </a:defRPr>
            </a:pPr>
            <a:r>
              <a:t>ID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4059935"/>
            <a:ext cx="3566160" cy="3200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8DAAFF"/>
                </a:solidFill>
                <a:latin typeface="DejaVu Sans Mono"/>
              </a:defRPr>
            </a:pPr>
            <a:r>
              <a:t>#inscricao { … }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52360" y="4059935"/>
            <a:ext cx="3794760" cy="3200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B8C4DD"/>
                </a:solidFill>
                <a:latin typeface="DejaVu Sans"/>
              </a:defRPr>
            </a:pPr>
            <a:r>
              <a:t>O elemento com id="inscricao".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4535424"/>
            <a:ext cx="10835640" cy="512064"/>
          </a:xfrm>
          <a:prstGeom prst="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4626864"/>
            <a:ext cx="2468880" cy="3200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F4F7FF"/>
                </a:solidFill>
                <a:latin typeface="DejaVu Sans"/>
              </a:defRPr>
            </a:pPr>
            <a:r>
              <a:t>Atributo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49039" y="4626864"/>
            <a:ext cx="3566160" cy="3200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8DAAFF"/>
                </a:solidFill>
                <a:latin typeface="DejaVu Sans Mono"/>
              </a:defRPr>
            </a:pPr>
            <a:r>
              <a:t>input[type="email"]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52360" y="4626864"/>
            <a:ext cx="3794760" cy="3200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B8C4DD"/>
                </a:solidFill>
                <a:latin typeface="DejaVu Sans"/>
              </a:defRPr>
            </a:pPr>
            <a:r>
              <a:t>Campos com esse atributo e valor.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" y="5102352"/>
            <a:ext cx="10835640" cy="512064"/>
          </a:xfrm>
          <a:prstGeom prst="rect">
            <a:avLst/>
          </a:prstGeom>
          <a:solidFill>
            <a:srgbClr val="15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5193792"/>
            <a:ext cx="2468880" cy="3200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F4F7FF"/>
                </a:solidFill>
                <a:latin typeface="DejaVu Sans"/>
              </a:defRPr>
            </a:pPr>
            <a:r>
              <a:t>Pseudoclasse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49039" y="5193792"/>
            <a:ext cx="3566160" cy="3200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8DAAFF"/>
                </a:solidFill>
                <a:latin typeface="DejaVu Sans Mono"/>
              </a:defRPr>
            </a:pPr>
            <a:r>
              <a:t>button:focus-visible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52360" y="5193792"/>
            <a:ext cx="3794760" cy="3200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B8C4DD"/>
                </a:solidFill>
                <a:latin typeface="DejaVu Sans"/>
              </a:defRPr>
            </a:pPr>
            <a:r>
              <a:t>Botão em estado de foco visível.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5934456"/>
            <a:ext cx="10607040" cy="3200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6CE5D2"/>
                </a:solidFill>
                <a:latin typeface="DejaVu Sans Mono"/>
              </a:defRPr>
            </a:pPr>
            <a:r>
              <a:t>Exemplo: &lt;article class="card destaque" id="curso-html"&gt;…&lt;/article&gt;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384048"/>
            <a:ext cx="54864" cy="201168"/>
          </a:xfrm>
          <a:prstGeom prst="rect">
            <a:avLst/>
          </a:prstGeom>
          <a:solidFill>
            <a:srgbClr val="6CE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329184"/>
            <a:ext cx="9144000" cy="256032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6CE5D2"/>
                </a:solidFill>
                <a:latin typeface="DejaVu Sans"/>
              </a:defRPr>
            </a:pPr>
            <a:r>
              <a:t>07 / ESPAÇAMENTO E DIMENSÕES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59536"/>
            <a:ext cx="10972800" cy="9144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3100" b="1">
                <a:solidFill>
                  <a:srgbClr val="F4F7FF"/>
                </a:solidFill>
                <a:latin typeface="DejaVu Sans"/>
              </a:defRPr>
            </a:pPr>
            <a:r>
              <a:t>Box model: cada elemento ocupa uma caixa.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437376"/>
            <a:ext cx="11000232" cy="10972"/>
          </a:xfrm>
          <a:prstGeom prst="rect">
            <a:avLst/>
          </a:prstGeom>
          <a:solidFill>
            <a:srgbClr val="2A38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" y="6547104"/>
            <a:ext cx="8229600" cy="1828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B8C4DD"/>
                </a:solidFill>
                <a:latin typeface="DejaVu Sans"/>
              </a:defRPr>
            </a:pPr>
            <a:r>
              <a:t>DESENVOLVIMENTO DE SISTEMAS     /     TEMA 03     /     HTML + CSS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0232" y="6501384"/>
            <a:ext cx="548640" cy="2286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6CE5D2"/>
                </a:solidFill>
                <a:latin typeface="DejaVu Sans"/>
              </a:defRPr>
            </a:pPr>
            <a:r>
              <a:t>08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468880"/>
            <a:ext cx="6400800" cy="3337560"/>
          </a:xfrm>
          <a:prstGeom prst="rect">
            <a:avLst/>
          </a:prstGeom>
          <a:solidFill>
            <a:srgbClr val="5A40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560320"/>
            <a:ext cx="6126480" cy="347472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F4F7FF"/>
                </a:solidFill>
                <a:latin typeface="DejaVu Sans"/>
              </a:defRPr>
            </a:pPr>
            <a:r>
              <a:t>margin — espaço externo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971800"/>
            <a:ext cx="5577840" cy="2423160"/>
          </a:xfrm>
          <a:prstGeom prst="rect">
            <a:avLst/>
          </a:prstGeom>
          <a:solidFill>
            <a:srgbClr val="A683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80160" y="3063240"/>
            <a:ext cx="5303520" cy="347472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0B1020"/>
                </a:solidFill>
                <a:latin typeface="DejaVu Sans"/>
              </a:defRPr>
            </a:pPr>
            <a:r>
              <a:t>border — contorno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81328" y="3493008"/>
            <a:ext cx="4901184" cy="1572768"/>
          </a:xfrm>
          <a:prstGeom prst="rect">
            <a:avLst/>
          </a:prstGeom>
          <a:solidFill>
            <a:srgbClr val="285B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18488" y="3584448"/>
            <a:ext cx="4626864" cy="347472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F4F7FF"/>
                </a:solidFill>
                <a:latin typeface="DejaVu Sans"/>
              </a:defRPr>
            </a:pPr>
            <a:r>
              <a:t>padding — espaço interno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56231" y="4023360"/>
            <a:ext cx="4151376" cy="594360"/>
          </a:xfrm>
          <a:prstGeom prst="rect">
            <a:avLst/>
          </a:prstGeom>
          <a:solidFill>
            <a:srgbClr val="15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993391" y="4114800"/>
            <a:ext cx="3877056" cy="347472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6CE5D2"/>
                </a:solidFill>
                <a:latin typeface="DejaVu Sans"/>
              </a:defRPr>
            </a:pPr>
            <a:r>
              <a:t>conteúdo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43800" y="2468880"/>
            <a:ext cx="3931920" cy="2286000"/>
          </a:xfrm>
          <a:prstGeom prst="roundRect">
            <a:avLst>
              <a:gd name="adj" fmla="val 15000"/>
            </a:avLst>
          </a:prstGeom>
          <a:solidFill>
            <a:srgbClr val="151E33"/>
          </a:solidFill>
          <a:ln>
            <a:solidFill>
              <a:srgbClr val="2A38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26679" y="2633472"/>
            <a:ext cx="77724" cy="77724"/>
          </a:xfrm>
          <a:prstGeom prst="roundRect">
            <a:avLst>
              <a:gd name="adj" fmla="val 15000"/>
            </a:avLst>
          </a:prstGeom>
          <a:solidFill>
            <a:srgbClr val="FFAA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891271" y="2633472"/>
            <a:ext cx="77724" cy="77724"/>
          </a:xfrm>
          <a:prstGeom prst="roundRect">
            <a:avLst>
              <a:gd name="adj" fmla="val 15000"/>
            </a:avLst>
          </a:prstGeom>
          <a:solidFill>
            <a:srgbClr val="F4D3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55863" y="2633472"/>
            <a:ext cx="77724" cy="77724"/>
          </a:xfrm>
          <a:prstGeom prst="roundRect">
            <a:avLst>
              <a:gd name="adj" fmla="val 15000"/>
            </a:avLst>
          </a:prstGeom>
          <a:solidFill>
            <a:srgbClr val="6CE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0183" y="2578608"/>
            <a:ext cx="3017520" cy="256032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B8C4DD"/>
                </a:solidFill>
                <a:latin typeface="DejaVu Sans Mono"/>
              </a:defRPr>
            </a:pPr>
            <a:r>
              <a:t>style.css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90104" y="2926080"/>
            <a:ext cx="3639312" cy="10972"/>
          </a:xfrm>
          <a:prstGeom prst="rect">
            <a:avLst/>
          </a:prstGeom>
          <a:solidFill>
            <a:srgbClr val="2A38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26679" y="3108960"/>
            <a:ext cx="347472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667795"/>
                </a:solidFill>
                <a:latin typeface="DejaVu Sans Mono"/>
              </a:defRPr>
            </a:pPr>
            <a:r>
              <a:t>01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74736" y="3108960"/>
            <a:ext cx="3163824" cy="4114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F4F7FF"/>
                </a:solidFill>
                <a:latin typeface="DejaVu Sans Mono"/>
              </a:defRPr>
            </a:pPr>
            <a:r>
              <a:t>* {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26679" y="3395472"/>
            <a:ext cx="347472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667795"/>
                </a:solidFill>
                <a:latin typeface="DejaVu Sans Mono"/>
              </a:defRPr>
            </a:pPr>
            <a: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74736" y="3395472"/>
            <a:ext cx="3163824" cy="4114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FFAA88"/>
                </a:solidFill>
                <a:latin typeface="DejaVu Sans Mono"/>
              </a:defRPr>
            </a:pPr>
            <a:r>
              <a:t>  box-sizing: border-box;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26679" y="3681984"/>
            <a:ext cx="347472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667795"/>
                </a:solidFill>
                <a:latin typeface="DejaVu Sans Mono"/>
              </a:defRPr>
            </a:pPr>
            <a: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74736" y="3681984"/>
            <a:ext cx="3163824" cy="4114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F4F7FF"/>
                </a:solidFill>
                <a:latin typeface="DejaVu Sans Mono"/>
              </a:defRPr>
            </a:pPr>
            <a:r>
              <a:t>}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9520" y="5029200"/>
            <a:ext cx="3749039" cy="7772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B8C4DD"/>
                </a:solidFill>
                <a:latin typeface="DejaVu Sans"/>
              </a:defRPr>
            </a:pPr>
            <a:r>
              <a:t>A largura declarada inclui</a:t>
            </a:r>
          </a:p>
          <a:p>
            <a:pPr>
              <a:spcAft>
                <a:spcPts val="700"/>
              </a:spcAft>
              <a:defRPr sz="1700" b="0">
                <a:solidFill>
                  <a:srgbClr val="B8C4DD"/>
                </a:solidFill>
                <a:latin typeface="DejaVu Sans"/>
              </a:defRPr>
            </a:pPr>
            <a:r>
              <a:t>conteúdo, padding e borda.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384048"/>
            <a:ext cx="54864" cy="201168"/>
          </a:xfrm>
          <a:prstGeom prst="rect">
            <a:avLst/>
          </a:prstGeom>
          <a:solidFill>
            <a:srgbClr val="6CE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329184"/>
            <a:ext cx="9144000" cy="256032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6CE5D2"/>
                </a:solidFill>
                <a:latin typeface="DejaVu Sans"/>
              </a:defRPr>
            </a:pPr>
            <a:r>
              <a:t>08 / LAYOUT COM FLEXBOX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59536"/>
            <a:ext cx="10972800" cy="9144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3100" b="1">
                <a:solidFill>
                  <a:srgbClr val="F4F7FF"/>
                </a:solidFill>
                <a:latin typeface="DejaVu Sans"/>
              </a:defRPr>
            </a:pPr>
            <a:r>
              <a:t>Flexbox: organize uma direção de cada vez.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682496"/>
            <a:ext cx="10972800" cy="5029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B8C4DD"/>
                </a:solidFill>
                <a:latin typeface="DejaVu Sans"/>
              </a:defRPr>
            </a:pPr>
            <a:r>
              <a:t>Ideal para barras de navegação, alinhamento de botões e pequenos grupos de elementos.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437376"/>
            <a:ext cx="11000232" cy="10972"/>
          </a:xfrm>
          <a:prstGeom prst="rect">
            <a:avLst/>
          </a:prstGeom>
          <a:solidFill>
            <a:srgbClr val="2A38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6547104"/>
            <a:ext cx="8229600" cy="1828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B8C4DD"/>
                </a:solidFill>
                <a:latin typeface="DejaVu Sans"/>
              </a:defRPr>
            </a:pPr>
            <a:r>
              <a:t>DESENVOLVIMENTO DE SISTEMAS     /     TEMA 03     /     HTML + CSS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0232" y="6501384"/>
            <a:ext cx="548640" cy="2286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6CE5D2"/>
                </a:solidFill>
                <a:latin typeface="DejaVu Sans"/>
              </a:defRPr>
            </a:pPr>
            <a:r>
              <a:t>09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560320"/>
            <a:ext cx="10698480" cy="960120"/>
          </a:xfrm>
          <a:prstGeom prst="roundRect">
            <a:avLst>
              <a:gd name="adj" fmla="val 15000"/>
            </a:avLst>
          </a:prstGeom>
          <a:solidFill>
            <a:srgbClr val="151E33"/>
          </a:solidFill>
          <a:ln>
            <a:solidFill>
              <a:srgbClr val="2A38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816352"/>
            <a:ext cx="2743200" cy="36576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2100" b="1">
                <a:solidFill>
                  <a:srgbClr val="6CE5D2"/>
                </a:solidFill>
                <a:latin typeface="DejaVu Sans"/>
              </a:defRPr>
            </a:pPr>
            <a:r>
              <a:t>&lt;/&gt; DevLab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0" y="2862072"/>
            <a:ext cx="1143000" cy="36576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B8C4DD"/>
                </a:solidFill>
                <a:latin typeface="DejaVu Sans"/>
              </a:defRPr>
            </a:pPr>
            <a:r>
              <a:t>Cursos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23960" y="2862072"/>
            <a:ext cx="1143000" cy="36576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B8C4DD"/>
                </a:solidFill>
                <a:latin typeface="DejaVu Sans"/>
              </a:defRPr>
            </a:pPr>
            <a:r>
              <a:t>Sobre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0" y="2862072"/>
            <a:ext cx="1143000" cy="36576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B8C4DD"/>
                </a:solidFill>
                <a:latin typeface="DejaVu Sans"/>
              </a:defRPr>
            </a:pPr>
            <a:r>
              <a:t>Entrar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886200"/>
            <a:ext cx="5852160" cy="2240280"/>
          </a:xfrm>
          <a:prstGeom prst="roundRect">
            <a:avLst>
              <a:gd name="adj" fmla="val 15000"/>
            </a:avLst>
          </a:prstGeom>
          <a:solidFill>
            <a:srgbClr val="151E33"/>
          </a:solidFill>
          <a:ln>
            <a:solidFill>
              <a:srgbClr val="2A38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14400" y="4050791"/>
            <a:ext cx="77724" cy="77724"/>
          </a:xfrm>
          <a:prstGeom prst="roundRect">
            <a:avLst>
              <a:gd name="adj" fmla="val 15000"/>
            </a:avLst>
          </a:prstGeom>
          <a:solidFill>
            <a:srgbClr val="FFAA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78992" y="4050791"/>
            <a:ext cx="77724" cy="77724"/>
          </a:xfrm>
          <a:prstGeom prst="roundRect">
            <a:avLst>
              <a:gd name="adj" fmla="val 15000"/>
            </a:avLst>
          </a:prstGeom>
          <a:solidFill>
            <a:srgbClr val="F4D3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243584" y="4050791"/>
            <a:ext cx="77724" cy="77724"/>
          </a:xfrm>
          <a:prstGeom prst="roundRect">
            <a:avLst>
              <a:gd name="adj" fmla="val 15000"/>
            </a:avLst>
          </a:prstGeom>
          <a:solidFill>
            <a:srgbClr val="6CE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517904" y="3995928"/>
            <a:ext cx="4937760" cy="256032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B8C4DD"/>
                </a:solidFill>
                <a:latin typeface="DejaVu Sans Mono"/>
              </a:defRPr>
            </a:pPr>
            <a:r>
              <a:t>style.css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77824" y="4343400"/>
            <a:ext cx="5559552" cy="10972"/>
          </a:xfrm>
          <a:prstGeom prst="rect">
            <a:avLst/>
          </a:prstGeom>
          <a:solidFill>
            <a:srgbClr val="2A38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526280"/>
            <a:ext cx="347472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667795"/>
                </a:solidFill>
                <a:latin typeface="DejaVu Sans Mono"/>
              </a:defRPr>
            </a:pPr>
            <a:r>
              <a:t>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62456" y="4526280"/>
            <a:ext cx="5084064" cy="4114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F4F7FF"/>
                </a:solidFill>
                <a:latin typeface="DejaVu Sans Mono"/>
              </a:defRPr>
            </a:pPr>
            <a:r>
              <a:t>.navegacao {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4812792"/>
            <a:ext cx="347472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667795"/>
                </a:solidFill>
                <a:latin typeface="DejaVu Sans Mono"/>
              </a:defRPr>
            </a:pPr>
            <a: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62456" y="4812792"/>
            <a:ext cx="5084064" cy="4114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FFAA88"/>
                </a:solidFill>
                <a:latin typeface="DejaVu Sans Mono"/>
              </a:defRPr>
            </a:pPr>
            <a:r>
              <a:t>  display: flex;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099304"/>
            <a:ext cx="347472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667795"/>
                </a:solidFill>
                <a:latin typeface="DejaVu Sans Mono"/>
              </a:defRPr>
            </a:pPr>
            <a: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62456" y="5099304"/>
            <a:ext cx="5084064" cy="4114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FFAA88"/>
                </a:solidFill>
                <a:latin typeface="DejaVu Sans Mono"/>
              </a:defRPr>
            </a:pPr>
            <a:r>
              <a:t>  justify-content: space-between;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5385816"/>
            <a:ext cx="347472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667795"/>
                </a:solidFill>
                <a:latin typeface="DejaVu Sans Mono"/>
              </a:defRPr>
            </a:pPr>
            <a: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62456" y="5385816"/>
            <a:ext cx="5084064" cy="4114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FFAA88"/>
                </a:solidFill>
                <a:latin typeface="DejaVu Sans Mono"/>
              </a:defRPr>
            </a:pPr>
            <a:r>
              <a:t>  align-items: center;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672328"/>
            <a:ext cx="347472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667795"/>
                </a:solidFill>
                <a:latin typeface="DejaVu Sans Mono"/>
              </a:defRPr>
            </a:pPr>
            <a: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62456" y="5672328"/>
            <a:ext cx="5084064" cy="4114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F4F7FF"/>
                </a:solidFill>
                <a:latin typeface="DejaVu Sans Mono"/>
              </a:defRPr>
            </a:pPr>
            <a:r>
              <a:t>}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95160" y="4114800"/>
            <a:ext cx="4114800" cy="36576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2200" b="1">
                <a:solidFill>
                  <a:srgbClr val="6CE5D2"/>
                </a:solidFill>
                <a:latin typeface="DejaVu Sans"/>
              </a:defRPr>
            </a:pPr>
            <a:r>
              <a:t>Eixo principal 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95160" y="4709160"/>
            <a:ext cx="4114800" cy="10972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600" b="0">
                <a:solidFill>
                  <a:srgbClr val="B8C4DD"/>
                </a:solidFill>
                <a:latin typeface="DejaVu Sans"/>
              </a:defRPr>
            </a:pPr>
            <a:r>
              <a:t>justify-content distribui no eixo principal.</a:t>
            </a:r>
          </a:p>
          <a:p>
            <a:pPr>
              <a:spcAft>
                <a:spcPts val="700"/>
              </a:spcAft>
              <a:defRPr sz="1600" b="0">
                <a:solidFill>
                  <a:srgbClr val="B8C4DD"/>
                </a:solidFill>
                <a:latin typeface="DejaVu Sans"/>
              </a:defRPr>
            </a:pPr>
            <a:r>
              <a:t>align-items alinha no eixo transversal.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384048"/>
            <a:ext cx="54864" cy="201168"/>
          </a:xfrm>
          <a:prstGeom prst="rect">
            <a:avLst/>
          </a:prstGeom>
          <a:solidFill>
            <a:srgbClr val="6CE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329184"/>
            <a:ext cx="9144000" cy="256032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6CE5D2"/>
                </a:solidFill>
                <a:latin typeface="DejaVu Sans"/>
              </a:defRPr>
            </a:pPr>
            <a:r>
              <a:t>09 / LAYOUT COM CSS GRID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59536"/>
            <a:ext cx="10972800" cy="9144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3100" b="1">
                <a:solidFill>
                  <a:srgbClr val="F4F7FF"/>
                </a:solidFill>
                <a:latin typeface="DejaVu Sans"/>
              </a:defRPr>
            </a:pPr>
            <a:r>
              <a:t>Grid: pense em linhas e colunas.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682496"/>
            <a:ext cx="10972800" cy="5029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B8C4DD"/>
                </a:solidFill>
                <a:latin typeface="DejaVu Sans"/>
              </a:defRPr>
            </a:pPr>
            <a:r>
              <a:t>Ideal para galerias, listas de cards e áreas de um painel.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437376"/>
            <a:ext cx="11000232" cy="10972"/>
          </a:xfrm>
          <a:prstGeom prst="rect">
            <a:avLst/>
          </a:prstGeom>
          <a:solidFill>
            <a:srgbClr val="2A38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6547104"/>
            <a:ext cx="8229600" cy="1828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B8C4DD"/>
                </a:solidFill>
                <a:latin typeface="DejaVu Sans"/>
              </a:defRPr>
            </a:pPr>
            <a:r>
              <a:t>DESENVOLVIMENTO DE SISTEMAS     /     TEMA 03     /     HTML + CSS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0232" y="6501384"/>
            <a:ext cx="548640" cy="2286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6CE5D2"/>
                </a:solidFill>
                <a:latin typeface="DejaVu Sans"/>
              </a:defRPr>
            </a:pPr>
            <a: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468880"/>
            <a:ext cx="3383280" cy="1417320"/>
          </a:xfrm>
          <a:prstGeom prst="roundRect">
            <a:avLst>
              <a:gd name="adj" fmla="val 15000"/>
            </a:avLst>
          </a:prstGeom>
          <a:solidFill>
            <a:srgbClr val="151E33"/>
          </a:solidFill>
          <a:ln>
            <a:solidFill>
              <a:srgbClr val="2A38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770632"/>
            <a:ext cx="2834640" cy="36576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2200" b="1">
                <a:solidFill>
                  <a:srgbClr val="6CE5D2"/>
                </a:solidFill>
                <a:latin typeface="DejaVu Sans"/>
              </a:defRPr>
            </a:pPr>
            <a:r>
              <a:t>01 / 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310128"/>
            <a:ext cx="2834640" cy="3200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B8C4DD"/>
                </a:solidFill>
                <a:latin typeface="DejaVu Sans"/>
              </a:defRPr>
            </a:pPr>
            <a:r>
              <a:t>Um card em cada coluna.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2468880"/>
            <a:ext cx="3383280" cy="1417320"/>
          </a:xfrm>
          <a:prstGeom prst="roundRect">
            <a:avLst>
              <a:gd name="adj" fmla="val 15000"/>
            </a:avLst>
          </a:prstGeom>
          <a:solidFill>
            <a:srgbClr val="151E33"/>
          </a:solidFill>
          <a:ln>
            <a:solidFill>
              <a:srgbClr val="2A38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17720" y="2770632"/>
            <a:ext cx="2834640" cy="36576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2200" b="1">
                <a:solidFill>
                  <a:srgbClr val="8DAAFF"/>
                </a:solidFill>
                <a:latin typeface="DejaVu Sans"/>
              </a:defRPr>
            </a:pPr>
            <a:r>
              <a:t>02 / CSS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3310128"/>
            <a:ext cx="2834640" cy="3200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B8C4DD"/>
                </a:solidFill>
                <a:latin typeface="DejaVu Sans"/>
              </a:defRPr>
            </a:pPr>
            <a:r>
              <a:t>Um card em cada coluna.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2468880"/>
            <a:ext cx="3383280" cy="1417320"/>
          </a:xfrm>
          <a:prstGeom prst="roundRect">
            <a:avLst>
              <a:gd name="adj" fmla="val 15000"/>
            </a:avLst>
          </a:prstGeom>
          <a:solidFill>
            <a:srgbClr val="151E33"/>
          </a:solidFill>
          <a:ln>
            <a:solidFill>
              <a:srgbClr val="2A38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20" y="2770632"/>
            <a:ext cx="2834640" cy="36576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2200" b="1">
                <a:solidFill>
                  <a:srgbClr val="FFAA88"/>
                </a:solidFill>
                <a:latin typeface="DejaVu Sans"/>
              </a:defRPr>
            </a:pPr>
            <a:r>
              <a:t>03 / LAYOUT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3310128"/>
            <a:ext cx="2834640" cy="3200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B8C4DD"/>
                </a:solidFill>
                <a:latin typeface="DejaVu Sans"/>
              </a:defRPr>
            </a:pPr>
            <a:r>
              <a:t>Um card em cada coluna.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023360"/>
            <a:ext cx="6309360" cy="2148840"/>
          </a:xfrm>
          <a:prstGeom prst="roundRect">
            <a:avLst>
              <a:gd name="adj" fmla="val 15000"/>
            </a:avLst>
          </a:prstGeom>
          <a:solidFill>
            <a:srgbClr val="151E33"/>
          </a:solidFill>
          <a:ln>
            <a:solidFill>
              <a:srgbClr val="2A38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14400" y="4187952"/>
            <a:ext cx="77724" cy="77724"/>
          </a:xfrm>
          <a:prstGeom prst="roundRect">
            <a:avLst>
              <a:gd name="adj" fmla="val 15000"/>
            </a:avLst>
          </a:prstGeom>
          <a:solidFill>
            <a:srgbClr val="FFAA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078992" y="4187952"/>
            <a:ext cx="77724" cy="77724"/>
          </a:xfrm>
          <a:prstGeom prst="roundRect">
            <a:avLst>
              <a:gd name="adj" fmla="val 15000"/>
            </a:avLst>
          </a:prstGeom>
          <a:solidFill>
            <a:srgbClr val="F4D3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243584" y="4187952"/>
            <a:ext cx="77724" cy="77724"/>
          </a:xfrm>
          <a:prstGeom prst="roundRect">
            <a:avLst>
              <a:gd name="adj" fmla="val 15000"/>
            </a:avLst>
          </a:prstGeom>
          <a:solidFill>
            <a:srgbClr val="6CE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517904" y="4133088"/>
            <a:ext cx="5394960" cy="256032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B8C4DD"/>
                </a:solidFill>
                <a:latin typeface="DejaVu Sans Mono"/>
              </a:defRPr>
            </a:pPr>
            <a:r>
              <a:t>style.css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7824" y="4480560"/>
            <a:ext cx="6016752" cy="10972"/>
          </a:xfrm>
          <a:prstGeom prst="rect">
            <a:avLst/>
          </a:prstGeom>
          <a:solidFill>
            <a:srgbClr val="2A38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663440"/>
            <a:ext cx="347472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67795"/>
                </a:solidFill>
                <a:latin typeface="DejaVu Sans Mono"/>
              </a:defRPr>
            </a:pPr>
            <a:r>
              <a:t>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62456" y="4663440"/>
            <a:ext cx="5541264" cy="4114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F4F7FF"/>
                </a:solidFill>
                <a:latin typeface="DejaVu Sans Mono"/>
              </a:defRPr>
            </a:pPr>
            <a:r>
              <a:t>.cursos {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4937252"/>
            <a:ext cx="347472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67795"/>
                </a:solidFill>
                <a:latin typeface="DejaVu Sans Mono"/>
              </a:defRPr>
            </a:pPr>
            <a:r>
              <a:t>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62456" y="4937252"/>
            <a:ext cx="5541264" cy="4114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FFAA88"/>
                </a:solidFill>
                <a:latin typeface="DejaVu Sans Mono"/>
              </a:defRPr>
            </a:pPr>
            <a:r>
              <a:t>  display: grid;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211064"/>
            <a:ext cx="347472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67795"/>
                </a:solidFill>
                <a:latin typeface="DejaVu Sans Mono"/>
              </a:defRPr>
            </a:pPr>
            <a:r>
              <a:t>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62456" y="5211064"/>
            <a:ext cx="5541264" cy="4114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FFAA88"/>
                </a:solidFill>
                <a:latin typeface="DejaVu Sans Mono"/>
              </a:defRPr>
            </a:pPr>
            <a:r>
              <a:t>  grid-template-columns: repeat(3, 1fr);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5484876"/>
            <a:ext cx="347472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67795"/>
                </a:solidFill>
                <a:latin typeface="DejaVu Sans Mono"/>
              </a:defRPr>
            </a:pPr>
            <a: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62456" y="5484876"/>
            <a:ext cx="5541264" cy="4114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FFAA88"/>
                </a:solidFill>
                <a:latin typeface="DejaVu Sans Mono"/>
              </a:defRPr>
            </a:pPr>
            <a:r>
              <a:t>  gap: 16px;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5758688"/>
            <a:ext cx="347472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67795"/>
                </a:solidFill>
                <a:latin typeface="DejaVu Sans Mono"/>
              </a:defRPr>
            </a:pPr>
            <a: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62456" y="5758688"/>
            <a:ext cx="5541264" cy="4114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F4F7FF"/>
                </a:solidFill>
                <a:latin typeface="DejaVu Sans Mono"/>
              </a:defRPr>
            </a:pPr>
            <a:r>
              <a:t>}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60920" y="4526280"/>
            <a:ext cx="3840480" cy="128016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800" b="0">
                <a:solidFill>
                  <a:srgbClr val="B8C4DD"/>
                </a:solidFill>
                <a:latin typeface="DejaVu Sans"/>
              </a:defRPr>
            </a:pPr>
            <a:r>
              <a:t>3 colunas proporcionais.</a:t>
            </a:r>
          </a:p>
          <a:p>
            <a:pPr>
              <a:spcAft>
                <a:spcPts val="700"/>
              </a:spcAft>
              <a:defRPr sz="1800" b="0">
                <a:solidFill>
                  <a:srgbClr val="B8C4DD"/>
                </a:solidFill>
                <a:latin typeface="DejaVu Sans"/>
              </a:defRPr>
            </a:pPr>
            <a:r>
              <a:t>16px entre os cards.</a:t>
            </a:r>
          </a:p>
          <a:p>
            <a:pPr>
              <a:spcAft>
                <a:spcPts val="700"/>
              </a:spcAft>
              <a:defRPr sz="1800" b="0">
                <a:solidFill>
                  <a:srgbClr val="B8C4DD"/>
                </a:solidFill>
                <a:latin typeface="DejaVu Sans"/>
              </a:defRPr>
            </a:pPr>
            <a:r>
              <a:t>Layout definido no contêiner.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384048"/>
            <a:ext cx="54864" cy="201168"/>
          </a:xfrm>
          <a:prstGeom prst="rect">
            <a:avLst/>
          </a:prstGeom>
          <a:solidFill>
            <a:srgbClr val="6CE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329184"/>
            <a:ext cx="9144000" cy="256032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6CE5D2"/>
                </a:solidFill>
                <a:latin typeface="DejaVu Sans"/>
              </a:defRPr>
            </a:pPr>
            <a:r>
              <a:t>10 / TELAS DIFERENTES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59536"/>
            <a:ext cx="10972800" cy="9144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3100" b="1">
                <a:solidFill>
                  <a:srgbClr val="F4F7FF"/>
                </a:solidFill>
                <a:latin typeface="DejaVu Sans"/>
              </a:defRPr>
            </a:pPr>
            <a:r>
              <a:t>Responsividade: adapte o layout ao espaço.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682496"/>
            <a:ext cx="10972800" cy="5029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B8C4DD"/>
                </a:solidFill>
                <a:latin typeface="DejaVu Sans"/>
              </a:defRPr>
            </a:pPr>
            <a:r>
              <a:t>Não é apenas encolher: é reorganizar o conteúdo para manter leitura e uso confortáveis.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437376"/>
            <a:ext cx="11000232" cy="10972"/>
          </a:xfrm>
          <a:prstGeom prst="rect">
            <a:avLst/>
          </a:prstGeom>
          <a:solidFill>
            <a:srgbClr val="2A38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6547104"/>
            <a:ext cx="8229600" cy="1828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B8C4DD"/>
                </a:solidFill>
                <a:latin typeface="DejaVu Sans"/>
              </a:defRPr>
            </a:pPr>
            <a:r>
              <a:t>DESENVOLVIMENTO DE SISTEMAS     /     TEMA 03     /     HTML + CSS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0232" y="6501384"/>
            <a:ext cx="548640" cy="2286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6CE5D2"/>
                </a:solidFill>
                <a:latin typeface="DejaVu Sans"/>
              </a:defRPr>
            </a:pPr>
            <a: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560320"/>
            <a:ext cx="4023360" cy="2560320"/>
          </a:xfrm>
          <a:prstGeom prst="roundRect">
            <a:avLst>
              <a:gd name="adj" fmla="val 15000"/>
            </a:avLst>
          </a:prstGeom>
          <a:solidFill>
            <a:srgbClr val="151E33"/>
          </a:solidFill>
          <a:ln>
            <a:solidFill>
              <a:srgbClr val="2A38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761488"/>
            <a:ext cx="3383280" cy="3200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200" b="1">
                <a:solidFill>
                  <a:srgbClr val="6CE5D2"/>
                </a:solidFill>
                <a:latin typeface="DejaVu Sans"/>
              </a:defRPr>
            </a:pPr>
            <a:r>
              <a:t>DESKTOP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87552" y="3337560"/>
            <a:ext cx="1005840" cy="1097280"/>
          </a:xfrm>
          <a:prstGeom prst="roundRect">
            <a:avLst>
              <a:gd name="adj" fmla="val 15000"/>
            </a:avLst>
          </a:prstGeom>
          <a:solidFill>
            <a:srgbClr val="285B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167128" y="3337560"/>
            <a:ext cx="1005840" cy="1097280"/>
          </a:xfrm>
          <a:prstGeom prst="roundRect">
            <a:avLst>
              <a:gd name="adj" fmla="val 15000"/>
            </a:avLst>
          </a:prstGeom>
          <a:solidFill>
            <a:srgbClr val="285B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346704" y="3337560"/>
            <a:ext cx="1005840" cy="1097280"/>
          </a:xfrm>
          <a:prstGeom prst="roundRect">
            <a:avLst>
              <a:gd name="adj" fmla="val 15000"/>
            </a:avLst>
          </a:prstGeom>
          <a:solidFill>
            <a:srgbClr val="285B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66360" y="2331720"/>
            <a:ext cx="1508760" cy="3337560"/>
          </a:xfrm>
          <a:prstGeom prst="roundRect">
            <a:avLst>
              <a:gd name="adj" fmla="val 15000"/>
            </a:avLst>
          </a:prstGeom>
          <a:solidFill>
            <a:srgbClr val="151E33"/>
          </a:solidFill>
          <a:ln>
            <a:solidFill>
              <a:srgbClr val="2A38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58384" y="2560320"/>
            <a:ext cx="1188720" cy="3200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6CE5D2"/>
                </a:solidFill>
                <a:latin typeface="DejaVu Sans"/>
              </a:defRPr>
            </a:pPr>
            <a:r>
              <a:t>MOBILE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94960" y="3072384"/>
            <a:ext cx="1051560" cy="539496"/>
          </a:xfrm>
          <a:prstGeom prst="roundRect">
            <a:avLst>
              <a:gd name="adj" fmla="val 15000"/>
            </a:avLst>
          </a:prstGeom>
          <a:solidFill>
            <a:srgbClr val="285B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394960" y="3776472"/>
            <a:ext cx="1051560" cy="539496"/>
          </a:xfrm>
          <a:prstGeom prst="roundRect">
            <a:avLst>
              <a:gd name="adj" fmla="val 15000"/>
            </a:avLst>
          </a:prstGeom>
          <a:solidFill>
            <a:srgbClr val="285B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394960" y="4480560"/>
            <a:ext cx="1051560" cy="539496"/>
          </a:xfrm>
          <a:prstGeom prst="roundRect">
            <a:avLst>
              <a:gd name="adj" fmla="val 15000"/>
            </a:avLst>
          </a:prstGeom>
          <a:solidFill>
            <a:srgbClr val="285B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132320" y="2560320"/>
            <a:ext cx="4389120" cy="2926080"/>
          </a:xfrm>
          <a:prstGeom prst="roundRect">
            <a:avLst>
              <a:gd name="adj" fmla="val 15000"/>
            </a:avLst>
          </a:prstGeom>
          <a:solidFill>
            <a:srgbClr val="151E33"/>
          </a:solidFill>
          <a:ln>
            <a:solidFill>
              <a:srgbClr val="2A38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315200" y="2724912"/>
            <a:ext cx="77724" cy="77724"/>
          </a:xfrm>
          <a:prstGeom prst="roundRect">
            <a:avLst>
              <a:gd name="adj" fmla="val 15000"/>
            </a:avLst>
          </a:prstGeom>
          <a:solidFill>
            <a:srgbClr val="FFAA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479792" y="2724912"/>
            <a:ext cx="77724" cy="77724"/>
          </a:xfrm>
          <a:prstGeom prst="roundRect">
            <a:avLst>
              <a:gd name="adj" fmla="val 15000"/>
            </a:avLst>
          </a:prstGeom>
          <a:solidFill>
            <a:srgbClr val="F4D3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644383" y="2724912"/>
            <a:ext cx="77724" cy="77724"/>
          </a:xfrm>
          <a:prstGeom prst="roundRect">
            <a:avLst>
              <a:gd name="adj" fmla="val 15000"/>
            </a:avLst>
          </a:prstGeom>
          <a:solidFill>
            <a:srgbClr val="6CE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18704" y="2670048"/>
            <a:ext cx="3474720" cy="256032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B8C4DD"/>
                </a:solidFill>
                <a:latin typeface="DejaVu Sans Mono"/>
              </a:defRPr>
            </a:pPr>
            <a:r>
              <a:t>style.css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278624" y="3017520"/>
            <a:ext cx="4096511" cy="10972"/>
          </a:xfrm>
          <a:prstGeom prst="rect">
            <a:avLst/>
          </a:prstGeom>
          <a:solidFill>
            <a:srgbClr val="2A38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0" y="3200400"/>
            <a:ext cx="347472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67795"/>
                </a:solidFill>
                <a:latin typeface="DejaVu Sans Mono"/>
              </a:defRPr>
            </a:pPr>
            <a:r>
              <a:t>01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63256" y="3200400"/>
            <a:ext cx="3621024" cy="4114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6CE5D2"/>
                </a:solidFill>
                <a:latin typeface="DejaVu Sans Mono"/>
              </a:defRPr>
            </a:pPr>
            <a:r>
              <a:t>@media (max-width: 700px) {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0" y="3474212"/>
            <a:ext cx="347472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67795"/>
                </a:solidFill>
                <a:latin typeface="DejaVu Sans Mono"/>
              </a:defRPr>
            </a:pPr>
            <a:r>
              <a:t>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63256" y="3474212"/>
            <a:ext cx="3621024" cy="4114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F4F7FF"/>
                </a:solidFill>
                <a:latin typeface="DejaVu Sans Mono"/>
              </a:defRPr>
            </a:pPr>
            <a:r>
              <a:t>  .cursos {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0" y="3748024"/>
            <a:ext cx="347472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67795"/>
                </a:solidFill>
                <a:latin typeface="DejaVu Sans Mono"/>
              </a:defRPr>
            </a:pPr>
            <a:r>
              <a:t>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63256" y="3748024"/>
            <a:ext cx="3621024" cy="4114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FFAA88"/>
                </a:solidFill>
                <a:latin typeface="DejaVu Sans Mono"/>
              </a:defRPr>
            </a:pPr>
            <a:r>
              <a:t>    grid-template-columns: 1fr;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0" y="4021836"/>
            <a:ext cx="347472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67795"/>
                </a:solidFill>
                <a:latin typeface="DejaVu Sans Mono"/>
              </a:defRPr>
            </a:pPr>
            <a:r>
              <a:t>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63256" y="4021836"/>
            <a:ext cx="3621024" cy="4114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F4F7FF"/>
                </a:solidFill>
                <a:latin typeface="DejaVu Sans Mono"/>
              </a:defRPr>
            </a:pPr>
            <a:r>
              <a:t>  }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0" y="4295648"/>
            <a:ext cx="347472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67795"/>
                </a:solidFill>
                <a:latin typeface="DejaVu Sans Mono"/>
              </a:defRPr>
            </a:pPr>
            <a:r>
              <a:t>05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63256" y="4295648"/>
            <a:ext cx="3621024" cy="4114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F4F7FF"/>
                </a:solidFill>
                <a:latin typeface="DejaVu Sans Mono"/>
              </a:defRPr>
            </a:pPr>
            <a:r>
              <a:t>}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5852160"/>
            <a:ext cx="10698480" cy="3200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6CE5D2"/>
                </a:solidFill>
                <a:latin typeface="DejaVu Sans"/>
              </a:defRPr>
            </a:pPr>
            <a:r>
              <a:t>Viewport + dimensões flexíveis + media queries + testes em larguras diferentes.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384048"/>
            <a:ext cx="54864" cy="201168"/>
          </a:xfrm>
          <a:prstGeom prst="rect">
            <a:avLst/>
          </a:prstGeom>
          <a:solidFill>
            <a:srgbClr val="6CE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329184"/>
            <a:ext cx="9144000" cy="256032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6CE5D2"/>
                </a:solidFill>
                <a:latin typeface="DejaVu Sans"/>
              </a:defRPr>
            </a:pPr>
            <a:r>
              <a:t>11 / BOAS PRÁTICAS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59536"/>
            <a:ext cx="10972800" cy="9144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3100" b="1">
                <a:solidFill>
                  <a:srgbClr val="F4F7FF"/>
                </a:solidFill>
                <a:latin typeface="DejaVu Sans"/>
              </a:defRPr>
            </a:pPr>
            <a:r>
              <a:t>Uma boa interface também precisa ser acessível.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437376"/>
            <a:ext cx="11000232" cy="10972"/>
          </a:xfrm>
          <a:prstGeom prst="rect">
            <a:avLst/>
          </a:prstGeom>
          <a:solidFill>
            <a:srgbClr val="2A38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" y="6547104"/>
            <a:ext cx="8229600" cy="1828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B8C4DD"/>
                </a:solidFill>
                <a:latin typeface="DejaVu Sans"/>
              </a:defRPr>
            </a:pPr>
            <a:r>
              <a:t>DESENVOLVIMENTO DE SISTEMAS     /     TEMA 03     /     HTML + CSS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0232" y="6501384"/>
            <a:ext cx="548640" cy="2286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6CE5D2"/>
                </a:solidFill>
                <a:latin typeface="DejaVu Sans"/>
              </a:defRPr>
            </a:pPr>
            <a: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468880"/>
            <a:ext cx="5120640" cy="1508760"/>
          </a:xfrm>
          <a:prstGeom prst="roundRect">
            <a:avLst>
              <a:gd name="adj" fmla="val 15000"/>
            </a:avLst>
          </a:prstGeom>
          <a:solidFill>
            <a:srgbClr val="151E33"/>
          </a:solidFill>
          <a:ln>
            <a:solidFill>
              <a:srgbClr val="2A38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679192"/>
            <a:ext cx="548640" cy="4572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2300" b="1">
                <a:solidFill>
                  <a:srgbClr val="6CE5D2"/>
                </a:solidFill>
                <a:latin typeface="DejaVu Sans Mono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886200" cy="36576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F4F7FF"/>
                </a:solidFill>
                <a:latin typeface="DejaVu Sans"/>
              </a:defRPr>
            </a:pPr>
            <a:r>
              <a:t>Semântica e hierarquia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3200400"/>
            <a:ext cx="3749039" cy="658368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B8C4DD"/>
                </a:solidFill>
                <a:latin typeface="DejaVu Sans"/>
              </a:defRPr>
            </a:pPr>
            <a:r>
              <a:t>Títulos coerentes, regiões claras e HTML pelo significado.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2468880"/>
            <a:ext cx="5120640" cy="1508760"/>
          </a:xfrm>
          <a:prstGeom prst="roundRect">
            <a:avLst>
              <a:gd name="adj" fmla="val 15000"/>
            </a:avLst>
          </a:prstGeom>
          <a:solidFill>
            <a:srgbClr val="151E33"/>
          </a:solidFill>
          <a:ln>
            <a:solidFill>
              <a:srgbClr val="2A38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10528" y="2679192"/>
            <a:ext cx="548640" cy="4572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2300" b="1">
                <a:solidFill>
                  <a:srgbClr val="8DAAFF"/>
                </a:solidFill>
                <a:latin typeface="DejaVu Sans Mono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0" y="2670048"/>
            <a:ext cx="3886200" cy="36576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F4F7FF"/>
                </a:solidFill>
                <a:latin typeface="DejaVu Sans"/>
              </a:defRPr>
            </a:pPr>
            <a:r>
              <a:t>Rótulos e alternativas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3200400"/>
            <a:ext cx="3749039" cy="658368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B8C4DD"/>
                </a:solidFill>
                <a:latin typeface="DejaVu Sans"/>
              </a:defRPr>
            </a:pPr>
            <a:r>
              <a:t>Associe label aos campos e use alt adequado em imagens.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251960"/>
            <a:ext cx="5120640" cy="1508760"/>
          </a:xfrm>
          <a:prstGeom prst="roundRect">
            <a:avLst>
              <a:gd name="adj" fmla="val 15000"/>
            </a:avLst>
          </a:prstGeom>
          <a:solidFill>
            <a:srgbClr val="151E33"/>
          </a:solidFill>
          <a:ln>
            <a:solidFill>
              <a:srgbClr val="2A38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2688" y="4462272"/>
            <a:ext cx="548640" cy="4572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2300" b="1">
                <a:solidFill>
                  <a:srgbClr val="FFAA88"/>
                </a:solidFill>
                <a:latin typeface="DejaVu Sans Mono"/>
              </a:defRPr>
            </a:pPr>
            <a: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" y="4453128"/>
            <a:ext cx="3886200" cy="36576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F4F7FF"/>
                </a:solidFill>
                <a:latin typeface="DejaVu Sans"/>
              </a:defRPr>
            </a:pPr>
            <a:r>
              <a:t>Leitura e contraste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4983480"/>
            <a:ext cx="3749039" cy="658368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B8C4DD"/>
                </a:solidFill>
                <a:latin typeface="DejaVu Sans"/>
              </a:defRPr>
            </a:pPr>
            <a:r>
              <a:t>Texto legível, espaço confortável e informação além da cor.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4251960"/>
            <a:ext cx="5120640" cy="1508760"/>
          </a:xfrm>
          <a:prstGeom prst="roundRect">
            <a:avLst>
              <a:gd name="adj" fmla="val 15000"/>
            </a:avLst>
          </a:prstGeom>
          <a:solidFill>
            <a:srgbClr val="151E33"/>
          </a:solidFill>
          <a:ln>
            <a:solidFill>
              <a:srgbClr val="2A38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528" y="4462272"/>
            <a:ext cx="548640" cy="4572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2300" b="1">
                <a:solidFill>
                  <a:srgbClr val="F4D381"/>
                </a:solidFill>
                <a:latin typeface="DejaVu Sans Mono"/>
              </a:defRPr>
            </a:pPr>
            <a: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3760" y="4453128"/>
            <a:ext cx="3886200" cy="36576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F4F7FF"/>
                </a:solidFill>
                <a:latin typeface="DejaVu Sans"/>
              </a:defRPr>
            </a:pPr>
            <a:r>
              <a:t>Teclado e foco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23760" y="4983480"/>
            <a:ext cx="3749039" cy="658368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B8C4DD"/>
                </a:solidFill>
                <a:latin typeface="DejaVu Sans"/>
              </a:defRPr>
            </a:pPr>
            <a:r>
              <a:t>Mantenha a ordem de navegação e um indicador de foco visível.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384048"/>
            <a:ext cx="54864" cy="201168"/>
          </a:xfrm>
          <a:prstGeom prst="rect">
            <a:avLst/>
          </a:prstGeom>
          <a:solidFill>
            <a:srgbClr val="6CE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329184"/>
            <a:ext cx="9144000" cy="256032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6CE5D2"/>
                </a:solidFill>
                <a:latin typeface="DejaVu Sans"/>
              </a:defRPr>
            </a:pPr>
            <a:r>
              <a:t>12 / EXEMPLO FUNCIONANDO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59536"/>
            <a:ext cx="10972800" cy="9144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3100" b="1">
                <a:solidFill>
                  <a:srgbClr val="F4F7FF"/>
                </a:solidFill>
                <a:latin typeface="DejaVu Sans"/>
              </a:defRPr>
            </a:pPr>
            <a:r>
              <a:t>Projeto DevLab: os conceitos juntos.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682496"/>
            <a:ext cx="10972800" cy="5029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B8C4DD"/>
                </a:solidFill>
                <a:latin typeface="DejaVu Sans"/>
              </a:defRPr>
            </a:pPr>
            <a:r>
              <a:t>Página de cursos feita com HTML e CSS, sem frameworks ou dependências externas.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437376"/>
            <a:ext cx="11000232" cy="10972"/>
          </a:xfrm>
          <a:prstGeom prst="rect">
            <a:avLst/>
          </a:prstGeom>
          <a:solidFill>
            <a:srgbClr val="2A38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6547104"/>
            <a:ext cx="8229600" cy="1828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B8C4DD"/>
                </a:solidFill>
                <a:latin typeface="DejaVu Sans"/>
              </a:defRPr>
            </a:pPr>
            <a:r>
              <a:t>DESENVOLVIMENTO DE SISTEMAS     /     TEMA 03     /     HTML + CSS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0232" y="6501384"/>
            <a:ext cx="548640" cy="2286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6CE5D2"/>
                </a:solidFill>
                <a:latin typeface="DejaVu Sans"/>
              </a:defRPr>
            </a:pPr>
            <a:r>
              <a:t>13</a:t>
            </a:r>
          </a:p>
        </p:txBody>
      </p:sp>
      <p:pic>
        <p:nvPicPr>
          <p:cNvPr id="9" name="Picture 8" descr="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423160"/>
            <a:ext cx="4709160" cy="3310128"/>
          </a:xfrm>
          <a:prstGeom prst="rect">
            <a:avLst/>
          </a:prstGeom>
        </p:spPr>
      </p:pic>
      <p:pic>
        <p:nvPicPr>
          <p:cNvPr id="10" name="Picture 9" descr="mobi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2423160"/>
            <a:ext cx="1434389" cy="33101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680960" y="2651760"/>
            <a:ext cx="3657600" cy="4572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2200" b="1">
                <a:solidFill>
                  <a:srgbClr val="6CE5D2"/>
                </a:solidFill>
                <a:latin typeface="DejaVu Sans"/>
              </a:defRPr>
            </a:pPr>
            <a:r>
              <a:t>Recursos da página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3383280"/>
            <a:ext cx="3657600" cy="36576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600" b="0">
                <a:solidFill>
                  <a:srgbClr val="B8C4DD"/>
                </a:solidFill>
                <a:latin typeface="DejaVu Sans"/>
              </a:defRPr>
            </a:pPr>
            <a:r>
              <a:t>✓  HTML semântico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3886200"/>
            <a:ext cx="3657600" cy="36576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600" b="0">
                <a:solidFill>
                  <a:srgbClr val="B8C4DD"/>
                </a:solidFill>
                <a:latin typeface="DejaVu Sans"/>
              </a:defRPr>
            </a:pPr>
            <a:r>
              <a:t>✓  Navegação com Flexbox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0" y="4389120"/>
            <a:ext cx="3657600" cy="36576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600" b="0">
                <a:solidFill>
                  <a:srgbClr val="B8C4DD"/>
                </a:solidFill>
                <a:latin typeface="DejaVu Sans"/>
              </a:defRPr>
            </a:pPr>
            <a:r>
              <a:t>✓  Cards com Grid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4892040"/>
            <a:ext cx="3657600" cy="36576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600" b="0">
                <a:solidFill>
                  <a:srgbClr val="B8C4DD"/>
                </a:solidFill>
                <a:latin typeface="DejaVu Sans"/>
              </a:defRPr>
            </a:pPr>
            <a:r>
              <a:t>✓  Formulário com labels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5394960"/>
            <a:ext cx="3657600" cy="36576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600" b="0">
                <a:solidFill>
                  <a:srgbClr val="B8C4DD"/>
                </a:solidFill>
                <a:latin typeface="DejaVu Sans"/>
              </a:defRPr>
            </a:pPr>
            <a:r>
              <a:t>✓  Layout responsivo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989320"/>
            <a:ext cx="10607040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6CE5D2"/>
                </a:solidFill>
                <a:latin typeface="DejaVu Sans"/>
              </a:defRPr>
            </a:pPr>
            <a:r>
              <a:t>Capturas reais do exemplo.html em 1280px e 390px de largura.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384048"/>
            <a:ext cx="54864" cy="201168"/>
          </a:xfrm>
          <a:prstGeom prst="rect">
            <a:avLst/>
          </a:prstGeom>
          <a:solidFill>
            <a:srgbClr val="6CE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329184"/>
            <a:ext cx="9144000" cy="256032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6CE5D2"/>
                </a:solidFill>
                <a:latin typeface="DejaVu Sans"/>
              </a:defRPr>
            </a:pPr>
            <a:r>
              <a:t>13 / CONCLUSÃO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59536"/>
            <a:ext cx="10972800" cy="9144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3100" b="1">
                <a:solidFill>
                  <a:srgbClr val="F4F7FF"/>
                </a:solidFill>
                <a:latin typeface="DejaVu Sans"/>
              </a:defRPr>
            </a:pPr>
            <a:r>
              <a:t>Estrutura, estilo e adaptação.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437376"/>
            <a:ext cx="11000232" cy="10972"/>
          </a:xfrm>
          <a:prstGeom prst="rect">
            <a:avLst/>
          </a:prstGeom>
          <a:solidFill>
            <a:srgbClr val="2A38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" y="6547104"/>
            <a:ext cx="8229600" cy="1828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B8C4DD"/>
                </a:solidFill>
                <a:latin typeface="DejaVu Sans"/>
              </a:defRPr>
            </a:pPr>
            <a:r>
              <a:t>DESENVOLVIMENTO DE SISTEMAS     /     TEMA 03     /     HTML + CSS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0232" y="6501384"/>
            <a:ext cx="548640" cy="2286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6CE5D2"/>
                </a:solidFill>
                <a:latin typeface="DejaVu Sans"/>
              </a:defRPr>
            </a:pPr>
            <a: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377440"/>
            <a:ext cx="1645920" cy="36576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6CE5D2"/>
                </a:solidFill>
                <a:latin typeface="DejaVu Sans Mono"/>
              </a:defRPr>
            </a:pPr>
            <a:r>
              <a:t>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2377440"/>
            <a:ext cx="8686800" cy="36576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2300" b="1">
                <a:solidFill>
                  <a:srgbClr val="F4F7FF"/>
                </a:solidFill>
                <a:latin typeface="DejaVu Sans"/>
              </a:defRPr>
            </a:pPr>
            <a:r>
              <a:t>HTML dá significado ao conteúdo.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2880360"/>
            <a:ext cx="8686800" cy="4572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B8C4DD"/>
                </a:solidFill>
                <a:latin typeface="DejaVu Sans"/>
              </a:defRPr>
            </a:pPr>
            <a:r>
              <a:t>Tags semânticas, hierarquia, links e formulários.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474720"/>
            <a:ext cx="1645920" cy="36576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8DAAFF"/>
                </a:solidFill>
                <a:latin typeface="DejaVu Sans Mono"/>
              </a:defRPr>
            </a:pPr>
            <a:r>
              <a:t>CSS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3474720"/>
            <a:ext cx="8686800" cy="36576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2300" b="1">
                <a:solidFill>
                  <a:srgbClr val="F4F7FF"/>
                </a:solidFill>
                <a:latin typeface="DejaVu Sans"/>
              </a:defRPr>
            </a:pPr>
            <a:r>
              <a:t>CSS constrói a identidade visual.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3977639"/>
            <a:ext cx="8686800" cy="4572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B8C4DD"/>
                </a:solidFill>
                <a:latin typeface="DejaVu Sans"/>
              </a:defRPr>
            </a:pPr>
            <a:r>
              <a:t>Seletores, classes, IDs, cores e espaçamentos.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572000"/>
            <a:ext cx="1645920" cy="36576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FFAA88"/>
                </a:solidFill>
                <a:latin typeface="DejaVu Sans Mono"/>
              </a:defRPr>
            </a:pPr>
            <a:r>
              <a:t>LAYOUT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4572000"/>
            <a:ext cx="8686800" cy="36576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2300" b="1">
                <a:solidFill>
                  <a:srgbClr val="F4F7FF"/>
                </a:solidFill>
                <a:latin typeface="DejaVu Sans"/>
              </a:defRPr>
            </a:pPr>
            <a:r>
              <a:t>O layout se adapta à tela.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5074920"/>
            <a:ext cx="8686800" cy="45720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B8C4DD"/>
                </a:solidFill>
                <a:latin typeface="DejaVu Sans"/>
              </a:defRPr>
            </a:pPr>
            <a:r>
              <a:t>Flexbox, Grid e media queries organizam a interface.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5733288"/>
            <a:ext cx="10698480" cy="457200"/>
          </a:xfrm>
          <a:prstGeom prst="roundRect">
            <a:avLst>
              <a:gd name="adj" fmla="val 15000"/>
            </a:avLst>
          </a:prstGeom>
          <a:solidFill>
            <a:srgbClr val="151E33"/>
          </a:solidFill>
          <a:ln>
            <a:solidFill>
              <a:srgbClr val="2A38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5833872"/>
            <a:ext cx="10287000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6CE5D2"/>
                </a:solidFill>
                <a:latin typeface="DejaVu Sans"/>
              </a:defRPr>
            </a:pPr>
            <a:r>
              <a:t>Uma página bem construída reúne organização, clareza visual e uma boa experiência.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6CE5D2"/>
      </a:hlink>
      <a:folHlink>
        <a:srgbClr val="8DAAFF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6CE5D2"/>
      </a:hlink>
      <a:folHlink>
        <a:srgbClr val="8DAAFF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HTML &amp; CSS — Da estrutura à experiência</dc:title>
  <dc:subject>Tema 03 — Desenvolvimento Web — Técnico em Desenvolvimento de Sistemas</dc:subject>
  <dc:creator>Isaque, Jean, João Vitor</dc:creator>
  <cp:keywords>HTML, CSS, formulários, seletores, classes, IDs, Flexbox, Grid, responsividade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